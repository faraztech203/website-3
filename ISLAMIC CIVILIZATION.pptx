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8" r:id="rId3"/>
    <p:sldId id="259" r:id="rId4"/>
    <p:sldId id="262" r:id="rId5"/>
    <p:sldId id="260" r:id="rId6"/>
    <p:sldId id="263" r:id="rId7"/>
    <p:sldId id="261" r:id="rId8"/>
    <p:sldId id="264" r:id="rId9"/>
    <p:sldId id="267"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1" r:id="rId25"/>
    <p:sldId id="28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7C2FF3-2F98-4C92-9139-EB48DB6B1254}" type="datetimeFigureOut">
              <a:rPr lang="en-US" smtClean="0"/>
              <a:t>6/14/2023</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D2E559F-B247-4941-A5EC-7D0D22A06F66}"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8398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7C2FF3-2F98-4C92-9139-EB48DB6B1254}"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E559F-B247-4941-A5EC-7D0D22A06F66}"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17815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17C2FF3-2F98-4C92-9139-EB48DB6B1254}"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E559F-B247-4941-A5EC-7D0D22A06F66}"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828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7C2FF3-2F98-4C92-9139-EB48DB6B1254}" type="datetimeFigureOut">
              <a:rPr lang="en-US" smtClean="0"/>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E559F-B247-4941-A5EC-7D0D22A06F66}"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27777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7C2FF3-2F98-4C92-9139-EB48DB6B1254}" type="datetimeFigureOut">
              <a:rPr lang="en-US" smtClean="0"/>
              <a:t>6/14/2023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2E559F-B247-4941-A5EC-7D0D22A06F66}"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423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7C2FF3-2F98-4C92-9139-EB48DB6B1254}" type="datetimeFigureOut">
              <a:rPr lang="en-US" smtClean="0"/>
              <a:t>6/14/2023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2E559F-B247-4941-A5EC-7D0D22A06F66}"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271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7C2FF3-2F98-4C92-9139-EB48DB6B1254}" type="datetimeFigureOut">
              <a:rPr lang="en-US" smtClean="0"/>
              <a:t>6/14/2023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2E559F-B247-4941-A5EC-7D0D22A06F66}" type="slidenum">
              <a:rPr lang="en-US" smtClean="0"/>
              <a:t>‹#›</a:t>
            </a:fld>
            <a:endParaRPr lang="en-US"/>
          </a:p>
        </p:txBody>
      </p:sp>
    </p:spTree>
    <p:extLst>
      <p:ext uri="{BB962C8B-B14F-4D97-AF65-F5344CB8AC3E}">
        <p14:creationId xmlns:p14="http://schemas.microsoft.com/office/powerpoint/2010/main" val="3000309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7C2FF3-2F98-4C92-9139-EB48DB6B1254}" type="datetimeFigureOut">
              <a:rPr lang="en-US" smtClean="0"/>
              <a:t>6/14/2023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2E559F-B247-4941-A5EC-7D0D22A06F66}"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2686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17C2FF3-2F98-4C92-9139-EB48DB6B1254}" type="datetimeFigureOut">
              <a:rPr lang="en-US" smtClean="0"/>
              <a:t>6/14/2023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AD2E559F-B247-4941-A5EC-7D0D22A06F66}"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8811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7C2FF3-2F98-4C92-9139-EB48DB6B1254}"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E559F-B247-4941-A5EC-7D0D22A06F66}"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2816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7C2FF3-2F98-4C92-9139-EB48DB6B1254}" type="datetimeFigureOut">
              <a:rPr lang="en-US" smtClean="0"/>
              <a:t>6/14/2023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2E559F-B247-4941-A5EC-7D0D22A06F66}"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718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17C2FF3-2F98-4C92-9139-EB48DB6B1254}" type="datetimeFigureOut">
              <a:rPr lang="en-US" smtClean="0"/>
              <a:t>6/14/2023</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D2E559F-B247-4941-A5EC-7D0D22A06F66}"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7459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E61CD-D50E-403C-8E8D-DD8221489D39}"/>
              </a:ext>
            </a:extLst>
          </p:cNvPr>
          <p:cNvSpPr>
            <a:spLocks noGrp="1"/>
          </p:cNvSpPr>
          <p:nvPr>
            <p:ph type="ctrTitle"/>
          </p:nvPr>
        </p:nvSpPr>
        <p:spPr/>
        <p:txBody>
          <a:bodyPr/>
          <a:lstStyle/>
          <a:p>
            <a:r>
              <a:rPr lang="en-US" dirty="0"/>
              <a:t>ISLAMIC CIVILIZATION</a:t>
            </a:r>
          </a:p>
        </p:txBody>
      </p:sp>
      <p:sp>
        <p:nvSpPr>
          <p:cNvPr id="3" name="Subtitle 2">
            <a:extLst>
              <a:ext uri="{FF2B5EF4-FFF2-40B4-BE49-F238E27FC236}">
                <a16:creationId xmlns:a16="http://schemas.microsoft.com/office/drawing/2014/main" id="{D72154E4-7FEF-41EE-9CE2-4646315D465B}"/>
              </a:ext>
            </a:extLst>
          </p:cNvPr>
          <p:cNvSpPr>
            <a:spLocks noGrp="1"/>
          </p:cNvSpPr>
          <p:nvPr>
            <p:ph type="subTitle" idx="1"/>
          </p:nvPr>
        </p:nvSpPr>
        <p:spPr/>
        <p:txBody>
          <a:bodyPr/>
          <a:lstStyle/>
          <a:p>
            <a:r>
              <a:rPr lang="en-US" dirty="0"/>
              <a:t>Importance and Influences</a:t>
            </a:r>
          </a:p>
        </p:txBody>
      </p:sp>
    </p:spTree>
    <p:extLst>
      <p:ext uri="{BB962C8B-B14F-4D97-AF65-F5344CB8AC3E}">
        <p14:creationId xmlns:p14="http://schemas.microsoft.com/office/powerpoint/2010/main" val="1301201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A742-7236-4A26-B235-4C47E651645D}"/>
              </a:ext>
            </a:extLst>
          </p:cNvPr>
          <p:cNvSpPr>
            <a:spLocks noGrp="1"/>
          </p:cNvSpPr>
          <p:nvPr>
            <p:ph type="title"/>
          </p:nvPr>
        </p:nvSpPr>
        <p:spPr/>
        <p:txBody>
          <a:bodyPr/>
          <a:lstStyle/>
          <a:p>
            <a:pPr algn="ctr"/>
            <a:r>
              <a:rPr lang="en-US" dirty="0"/>
              <a:t>ISLAMIC CIVILIZATION </a:t>
            </a:r>
            <a:br>
              <a:rPr lang="en-US" dirty="0"/>
            </a:br>
            <a:r>
              <a:rPr lang="ur-PK" dirty="0">
                <a:latin typeface="Jameel Noori Nastaleeq" panose="02000503000000020004" pitchFamily="2" charset="-78"/>
                <a:cs typeface="Jameel Noori Nastaleeq" panose="02000503000000020004" pitchFamily="2" charset="-78"/>
              </a:rPr>
              <a:t>اسلامی تہذیب</a:t>
            </a:r>
            <a:endParaRPr lang="en-US" dirty="0">
              <a:latin typeface="Jameel Noori Nastaleeq" panose="02000503000000020004" pitchFamily="2" charset="-78"/>
              <a:cs typeface="Jameel Noori Nastaleeq" panose="02000503000000020004" pitchFamily="2" charset="-78"/>
            </a:endParaRPr>
          </a:p>
        </p:txBody>
      </p:sp>
      <p:sp>
        <p:nvSpPr>
          <p:cNvPr id="3" name="Content Placeholder 2">
            <a:extLst>
              <a:ext uri="{FF2B5EF4-FFF2-40B4-BE49-F238E27FC236}">
                <a16:creationId xmlns:a16="http://schemas.microsoft.com/office/drawing/2014/main" id="{9B8F011B-276D-4413-BF7B-3758F35CD2DD}"/>
              </a:ext>
            </a:extLst>
          </p:cNvPr>
          <p:cNvSpPr>
            <a:spLocks noGrp="1"/>
          </p:cNvSpPr>
          <p:nvPr>
            <p:ph idx="1"/>
          </p:nvPr>
        </p:nvSpPr>
        <p:spPr/>
        <p:txBody>
          <a:bodyPr>
            <a:normAutofit fontScale="77500" lnSpcReduction="20000"/>
          </a:bodyPr>
          <a:lstStyle/>
          <a:p>
            <a:pPr marL="0" indent="0">
              <a:buNone/>
            </a:pPr>
            <a:r>
              <a:rPr lang="en-US" sz="2400" b="1" dirty="0"/>
              <a:t>Meaning of </a:t>
            </a:r>
            <a:r>
              <a:rPr lang="en-US" sz="2400" b="1" dirty="0" err="1"/>
              <a:t>Tehzib</a:t>
            </a:r>
            <a:endParaRPr lang="en-US" sz="2400" b="1" dirty="0"/>
          </a:p>
          <a:p>
            <a:pPr marL="0" indent="0">
              <a:buNone/>
            </a:pPr>
            <a:r>
              <a:rPr lang="en-US" sz="2200" dirty="0"/>
              <a:t>The word used for </a:t>
            </a:r>
            <a:r>
              <a:rPr lang="en-US" sz="2200" dirty="0" err="1"/>
              <a:t>Tehzib</a:t>
            </a:r>
            <a:r>
              <a:rPr lang="en-US" sz="2200" dirty="0"/>
              <a:t> in English is Civilization. Human society with its well developed social organization.</a:t>
            </a:r>
          </a:p>
          <a:p>
            <a:pPr marL="0" indent="0">
              <a:buNone/>
            </a:pPr>
            <a:r>
              <a:rPr lang="en-US" sz="2200" dirty="0"/>
              <a:t>The way of life, especially the general customs and beliefs, of a particular group of people at a particular time.</a:t>
            </a:r>
          </a:p>
          <a:p>
            <a:pPr marL="0" indent="0">
              <a:buNone/>
            </a:pPr>
            <a:r>
              <a:rPr lang="en-US" sz="2400" b="1" dirty="0"/>
              <a:t>Sources of Civilization</a:t>
            </a:r>
          </a:p>
          <a:p>
            <a:pPr marL="0" indent="0">
              <a:buNone/>
            </a:pPr>
            <a:r>
              <a:rPr lang="en-US" sz="2200" dirty="0"/>
              <a:t>The great bestowal of Allah is religion. Religion confers upon man eternal life and guides his footsteps in the world of morality. It opens the doors of unending happiness and bestows everlasting honor upon the human kingdom. It has been the basis of all civilization and progress in the history of mankind.</a:t>
            </a:r>
          </a:p>
        </p:txBody>
      </p:sp>
    </p:spTree>
    <p:extLst>
      <p:ext uri="{BB962C8B-B14F-4D97-AF65-F5344CB8AC3E}">
        <p14:creationId xmlns:p14="http://schemas.microsoft.com/office/powerpoint/2010/main" val="351625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1E8E4-82EB-4BFF-9209-7ACAEAF5D27E}"/>
              </a:ext>
            </a:extLst>
          </p:cNvPr>
          <p:cNvSpPr>
            <a:spLocks noGrp="1"/>
          </p:cNvSpPr>
          <p:nvPr>
            <p:ph type="title"/>
          </p:nvPr>
        </p:nvSpPr>
        <p:spPr>
          <a:xfrm>
            <a:off x="1451578" y="725006"/>
            <a:ext cx="9603275" cy="1049235"/>
          </a:xfrm>
        </p:spPr>
        <p:txBody>
          <a:bodyPr>
            <a:normAutofit fontScale="90000"/>
          </a:bodyPr>
          <a:lstStyle/>
          <a:p>
            <a:pPr algn="ctr"/>
            <a:r>
              <a:rPr lang="en-US" dirty="0"/>
              <a:t>ISLAMIC CIVILIZATION </a:t>
            </a:r>
            <a:r>
              <a:rPr lang="ur-PK" dirty="0"/>
              <a:t>(</a:t>
            </a:r>
            <a:r>
              <a:rPr lang="ur-PK" dirty="0">
                <a:latin typeface="Jameel Noori Nastaleeq" panose="02000503000000020004" pitchFamily="2" charset="-78"/>
                <a:cs typeface="Jameel Noori Nastaleeq" panose="02000503000000020004" pitchFamily="2" charset="-78"/>
              </a:rPr>
              <a:t>اسلامی تہذیب</a:t>
            </a:r>
            <a:r>
              <a:rPr lang="ur-PK" dirty="0"/>
              <a:t>)</a:t>
            </a:r>
            <a:br>
              <a:rPr lang="ur-PK" dirty="0"/>
            </a:br>
            <a:r>
              <a:rPr lang="en-US" sz="2700" b="1" dirty="0"/>
              <a:t>Characteristics of Islamic &amp; Prophetic Society</a:t>
            </a:r>
            <a:endParaRPr lang="en-US" sz="2700" dirty="0"/>
          </a:p>
        </p:txBody>
      </p:sp>
      <p:sp>
        <p:nvSpPr>
          <p:cNvPr id="3" name="Content Placeholder 2">
            <a:extLst>
              <a:ext uri="{FF2B5EF4-FFF2-40B4-BE49-F238E27FC236}">
                <a16:creationId xmlns:a16="http://schemas.microsoft.com/office/drawing/2014/main" id="{6A963B7C-BAD3-4BFB-AB1B-DAC8C988223B}"/>
              </a:ext>
            </a:extLst>
          </p:cNvPr>
          <p:cNvSpPr>
            <a:spLocks noGrp="1"/>
          </p:cNvSpPr>
          <p:nvPr>
            <p:ph idx="1"/>
          </p:nvPr>
        </p:nvSpPr>
        <p:spPr/>
        <p:txBody>
          <a:bodyPr>
            <a:normAutofit fontScale="92500" lnSpcReduction="20000"/>
          </a:bodyPr>
          <a:lstStyle/>
          <a:p>
            <a:pPr marL="0" indent="0">
              <a:buNone/>
            </a:pPr>
            <a:r>
              <a:rPr lang="en-US" b="1" dirty="0" err="1"/>
              <a:t>Towhid</a:t>
            </a:r>
            <a:endParaRPr lang="en-US" b="1" dirty="0"/>
          </a:p>
          <a:p>
            <a:pPr marL="0" indent="0">
              <a:buNone/>
            </a:pPr>
            <a:r>
              <a:rPr lang="en-US" b="1" dirty="0" err="1"/>
              <a:t>Risalat</a:t>
            </a:r>
            <a:endParaRPr lang="en-US" b="1" dirty="0"/>
          </a:p>
          <a:p>
            <a:pPr marL="0" indent="0">
              <a:buNone/>
            </a:pPr>
            <a:r>
              <a:rPr lang="en-US" b="1" dirty="0"/>
              <a:t>Cleanness and Purity</a:t>
            </a:r>
          </a:p>
          <a:p>
            <a:pPr marL="0" indent="0" algn="ctr">
              <a:buNone/>
            </a:pPr>
            <a:r>
              <a:rPr lang="ur-PK" b="1" dirty="0"/>
              <a:t>الطھور شطرالایمان</a:t>
            </a:r>
            <a:endParaRPr lang="en-US" b="1" dirty="0"/>
          </a:p>
          <a:p>
            <a:pPr marL="0" indent="0" algn="ctr">
              <a:buNone/>
            </a:pPr>
            <a:r>
              <a:rPr lang="en-US" b="1" dirty="0"/>
              <a:t>Purity is the part of </a:t>
            </a:r>
            <a:r>
              <a:rPr lang="en-US" b="1" dirty="0" err="1"/>
              <a:t>Imaan</a:t>
            </a:r>
            <a:endParaRPr lang="en-US" b="1" dirty="0"/>
          </a:p>
          <a:p>
            <a:pPr marL="0" indent="0">
              <a:buNone/>
            </a:pPr>
            <a:r>
              <a:rPr lang="en-US" b="1" dirty="0"/>
              <a:t>Simplicity</a:t>
            </a:r>
            <a:endParaRPr lang="ur-PK" b="1" dirty="0"/>
          </a:p>
          <a:p>
            <a:pPr marL="0" indent="0" algn="ctr">
              <a:buNone/>
            </a:pPr>
            <a:r>
              <a:rPr lang="ur-PK" b="1" dirty="0"/>
              <a:t>ان البذاذۃ من الایمان</a:t>
            </a:r>
            <a:endParaRPr lang="en-US" b="1" dirty="0"/>
          </a:p>
          <a:p>
            <a:pPr marL="0" indent="0" algn="ctr">
              <a:buNone/>
            </a:pPr>
            <a:r>
              <a:rPr lang="en-US" b="1" dirty="0"/>
              <a:t>Simplicity is a part of </a:t>
            </a:r>
            <a:r>
              <a:rPr lang="en-US" b="1" dirty="0" err="1"/>
              <a:t>Imaan</a:t>
            </a:r>
            <a:endParaRPr lang="en-US" b="1" dirty="0"/>
          </a:p>
        </p:txBody>
      </p:sp>
    </p:spTree>
    <p:extLst>
      <p:ext uri="{BB962C8B-B14F-4D97-AF65-F5344CB8AC3E}">
        <p14:creationId xmlns:p14="http://schemas.microsoft.com/office/powerpoint/2010/main" val="58527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6C10-5391-4EE2-BBB8-13AFBEF54517}"/>
              </a:ext>
            </a:extLst>
          </p:cNvPr>
          <p:cNvSpPr>
            <a:spLocks noGrp="1"/>
          </p:cNvSpPr>
          <p:nvPr>
            <p:ph type="title"/>
          </p:nvPr>
        </p:nvSpPr>
        <p:spPr/>
        <p:txBody>
          <a:bodyPr>
            <a:normAutofit fontScale="90000"/>
          </a:bodyPr>
          <a:lstStyle/>
          <a:p>
            <a:pPr algn="ctr"/>
            <a:r>
              <a:rPr lang="en-US" dirty="0"/>
              <a:t>ISLAMIC CIVILIZATION </a:t>
            </a:r>
            <a:r>
              <a:rPr lang="ur-PK" dirty="0"/>
              <a:t>(</a:t>
            </a:r>
            <a:r>
              <a:rPr lang="ur-PK" dirty="0">
                <a:latin typeface="Jameel Noori Nastaleeq" panose="02000503000000020004" pitchFamily="2" charset="-78"/>
                <a:cs typeface="Jameel Noori Nastaleeq" panose="02000503000000020004" pitchFamily="2" charset="-78"/>
              </a:rPr>
              <a:t>اسلامی تہذیب</a:t>
            </a:r>
            <a:r>
              <a:rPr lang="ur-PK" dirty="0"/>
              <a:t>)</a:t>
            </a:r>
            <a:br>
              <a:rPr lang="ur-PK" dirty="0"/>
            </a:br>
            <a:r>
              <a:rPr lang="en-US" sz="2700" b="1" dirty="0"/>
              <a:t>Characteristics of Islamic &amp; Prophetic Society</a:t>
            </a:r>
            <a:endParaRPr lang="en-US" sz="2700" dirty="0"/>
          </a:p>
        </p:txBody>
      </p:sp>
      <p:sp>
        <p:nvSpPr>
          <p:cNvPr id="3" name="Content Placeholder 2">
            <a:extLst>
              <a:ext uri="{FF2B5EF4-FFF2-40B4-BE49-F238E27FC236}">
                <a16:creationId xmlns:a16="http://schemas.microsoft.com/office/drawing/2014/main" id="{9A404537-5949-4E59-8DD5-008346708E9E}"/>
              </a:ext>
            </a:extLst>
          </p:cNvPr>
          <p:cNvSpPr>
            <a:spLocks noGrp="1"/>
          </p:cNvSpPr>
          <p:nvPr>
            <p:ph idx="1"/>
          </p:nvPr>
        </p:nvSpPr>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Equality</a:t>
            </a:r>
          </a:p>
          <a:p>
            <a:pPr marL="0" indent="0" algn="ctr">
              <a:buNone/>
            </a:pPr>
            <a:r>
              <a:rPr lang="ur-PK" b="1" dirty="0">
                <a:latin typeface="Traditional Arabic" panose="02020603050405020304" pitchFamily="18" charset="-78"/>
                <a:cs typeface="Traditional Arabic" panose="02020603050405020304" pitchFamily="18" charset="-78"/>
              </a:rPr>
              <a:t>انا خلقناکم من نفس واحدۃ</a:t>
            </a:r>
            <a:endParaRPr lang="en-US" b="1"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We created you from a single pair</a:t>
            </a:r>
          </a:p>
          <a:p>
            <a:pPr marL="0" indent="0" algn="ctr">
              <a:buNone/>
            </a:pPr>
            <a:r>
              <a:rPr lang="en-US" dirty="0">
                <a:latin typeface="Times New Roman" panose="02020603050405020304" pitchFamily="18" charset="0"/>
                <a:cs typeface="Times New Roman" panose="02020603050405020304" pitchFamily="18" charset="0"/>
              </a:rPr>
              <a:t> of a male and a female</a:t>
            </a:r>
          </a:p>
          <a:p>
            <a:pPr marL="0" indent="0">
              <a:buNone/>
            </a:pPr>
            <a:r>
              <a:rPr lang="en-US" b="1" dirty="0">
                <a:latin typeface="Times New Roman" panose="02020603050405020304" pitchFamily="18" charset="0"/>
                <a:cs typeface="Times New Roman" panose="02020603050405020304" pitchFamily="18" charset="0"/>
              </a:rPr>
              <a:t>Oneness in Theory &amp; Practice</a:t>
            </a:r>
          </a:p>
          <a:p>
            <a:pPr marL="0" indent="0">
              <a:buNone/>
            </a:pPr>
            <a:r>
              <a:rPr lang="en-US" b="1" dirty="0">
                <a:latin typeface="Times New Roman" panose="02020603050405020304" pitchFamily="18" charset="0"/>
                <a:cs typeface="Times New Roman" panose="02020603050405020304" pitchFamily="18" charset="0"/>
              </a:rPr>
              <a:t>Justice</a:t>
            </a:r>
          </a:p>
          <a:p>
            <a:pPr marL="0" indent="0" algn="ctr">
              <a:buNone/>
            </a:pPr>
            <a:r>
              <a:rPr lang="ur-PK" b="1" dirty="0">
                <a:latin typeface="Traditional Arabic" panose="02020603050405020304" pitchFamily="18" charset="-78"/>
                <a:cs typeface="Traditional Arabic" panose="02020603050405020304" pitchFamily="18" charset="-78"/>
              </a:rPr>
              <a:t>اعدلوا ھو اقرب للتقویٰ</a:t>
            </a:r>
            <a:endParaRPr lang="en-US" b="1"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Be just: that is nearer to piety</a:t>
            </a:r>
          </a:p>
          <a:p>
            <a:endParaRPr lang="en-US" dirty="0"/>
          </a:p>
        </p:txBody>
      </p:sp>
    </p:spTree>
    <p:extLst>
      <p:ext uri="{BB962C8B-B14F-4D97-AF65-F5344CB8AC3E}">
        <p14:creationId xmlns:p14="http://schemas.microsoft.com/office/powerpoint/2010/main" val="814986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18B6B-56DA-4C3E-BAB5-FC295870D5E8}"/>
              </a:ext>
            </a:extLst>
          </p:cNvPr>
          <p:cNvSpPr>
            <a:spLocks noGrp="1"/>
          </p:cNvSpPr>
          <p:nvPr>
            <p:ph type="title"/>
          </p:nvPr>
        </p:nvSpPr>
        <p:spPr/>
        <p:txBody>
          <a:bodyPr>
            <a:normAutofit fontScale="90000"/>
          </a:bodyPr>
          <a:lstStyle/>
          <a:p>
            <a:pPr algn="ctr"/>
            <a:r>
              <a:rPr lang="en-US" dirty="0"/>
              <a:t>ISLAMIC CIVILIZATION </a:t>
            </a:r>
            <a:r>
              <a:rPr lang="ur-PK" dirty="0"/>
              <a:t>(</a:t>
            </a:r>
            <a:r>
              <a:rPr lang="ur-PK" dirty="0">
                <a:latin typeface="Jameel Noori Nastaleeq" panose="02000503000000020004" pitchFamily="2" charset="-78"/>
                <a:cs typeface="Jameel Noori Nastaleeq" panose="02000503000000020004" pitchFamily="2" charset="-78"/>
              </a:rPr>
              <a:t>اسلامی تہذیب</a:t>
            </a:r>
            <a:r>
              <a:rPr lang="ur-PK" dirty="0"/>
              <a:t>)</a:t>
            </a:r>
            <a:br>
              <a:rPr lang="ur-PK" dirty="0"/>
            </a:br>
            <a:r>
              <a:rPr lang="en-US" sz="2700" b="1" dirty="0"/>
              <a:t>Characteristics of Islamic &amp; Prophetic Society</a:t>
            </a:r>
            <a:endParaRPr lang="en-US" sz="2700" dirty="0"/>
          </a:p>
        </p:txBody>
      </p:sp>
      <p:sp>
        <p:nvSpPr>
          <p:cNvPr id="3" name="Content Placeholder 2">
            <a:extLst>
              <a:ext uri="{FF2B5EF4-FFF2-40B4-BE49-F238E27FC236}">
                <a16:creationId xmlns:a16="http://schemas.microsoft.com/office/drawing/2014/main" id="{06A16972-1EF6-40C4-AA11-523C98B1B53B}"/>
              </a:ext>
            </a:extLst>
          </p:cNvPr>
          <p:cNvSpPr>
            <a:spLocks noGrp="1"/>
          </p:cNvSpPr>
          <p:nvPr>
            <p:ph idx="1"/>
          </p:nvPr>
        </p:nvSpPr>
        <p:spPr/>
        <p:txBody>
          <a:bodyPr>
            <a:normAutofit fontScale="55000" lnSpcReduction="20000"/>
          </a:bodyPr>
          <a:lstStyle/>
          <a:p>
            <a:r>
              <a:rPr lang="en-US" sz="3500" b="1" dirty="0">
                <a:latin typeface="Times New Roman" panose="02020603050405020304" pitchFamily="18" charset="0"/>
                <a:cs typeface="Times New Roman" panose="02020603050405020304" pitchFamily="18" charset="0"/>
              </a:rPr>
              <a:t>Brotherhood</a:t>
            </a:r>
          </a:p>
          <a:p>
            <a:r>
              <a:rPr lang="en-US" sz="3500" b="1" dirty="0">
                <a:latin typeface="Times New Roman" panose="02020603050405020304" pitchFamily="18" charset="0"/>
                <a:cs typeface="Times New Roman" panose="02020603050405020304" pitchFamily="18" charset="0"/>
              </a:rPr>
              <a:t>Tolerance</a:t>
            </a:r>
          </a:p>
          <a:p>
            <a:r>
              <a:rPr lang="en-US" sz="3500" b="1" dirty="0">
                <a:latin typeface="Times New Roman" panose="02020603050405020304" pitchFamily="18" charset="0"/>
                <a:cs typeface="Times New Roman" panose="02020603050405020304" pitchFamily="18" charset="0"/>
              </a:rPr>
              <a:t>Commanding Good and Forbidding Evil</a:t>
            </a:r>
          </a:p>
          <a:p>
            <a:pPr marL="0" indent="0" algn="ctr">
              <a:buNone/>
            </a:pPr>
            <a:r>
              <a:rPr lang="ar-SA" sz="3600" dirty="0">
                <a:latin typeface="Traditional Arabic" panose="02020603050405020304" pitchFamily="18" charset="-78"/>
                <a:cs typeface="Traditional Arabic" panose="02020603050405020304" pitchFamily="18" charset="-78"/>
              </a:rPr>
              <a:t>یَاْمُرُوْنَ  بِالْمَعْرُوْفِ  وَ  یَنْهَوْنَ  عَنِ  الْمُنْكَرِ</a:t>
            </a:r>
            <a:endParaRPr lang="en-US" sz="3600" dirty="0">
              <a:latin typeface="Traditional Arabic" panose="02020603050405020304" pitchFamily="18" charset="-78"/>
              <a:cs typeface="Traditional Arabic" panose="02020603050405020304" pitchFamily="18" charset="-78"/>
            </a:endParaRPr>
          </a:p>
          <a:p>
            <a:pPr marL="0" indent="0" algn="ctr">
              <a:buNone/>
            </a:pPr>
            <a:r>
              <a:rPr lang="en-US" sz="3500" dirty="0">
                <a:latin typeface="Times New Roman" panose="02020603050405020304" pitchFamily="18" charset="0"/>
                <a:cs typeface="Times New Roman" panose="02020603050405020304" pitchFamily="18" charset="0"/>
              </a:rPr>
              <a:t>People who call toward goodness and forbid the evil</a:t>
            </a:r>
            <a:endParaRPr lang="ur-PK" sz="3500" dirty="0">
              <a:latin typeface="Times New Roman" panose="02020603050405020304" pitchFamily="18" charset="0"/>
              <a:cs typeface="Times New Roman" panose="02020603050405020304" pitchFamily="18" charset="0"/>
            </a:endParaRPr>
          </a:p>
          <a:p>
            <a:r>
              <a:rPr lang="en-US" sz="3500" b="1" dirty="0">
                <a:latin typeface="Times New Roman" panose="02020603050405020304" pitchFamily="18" charset="0"/>
                <a:cs typeface="Times New Roman" panose="02020603050405020304" pitchFamily="18" charset="0"/>
              </a:rPr>
              <a:t>Chastity &amp; Purity</a:t>
            </a:r>
          </a:p>
          <a:p>
            <a:pPr marL="0" indent="0" algn="ctr">
              <a:buNone/>
            </a:pPr>
            <a:r>
              <a:rPr lang="ur-PK" sz="3500" dirty="0">
                <a:latin typeface="Traditional Arabic" panose="02020603050405020304" pitchFamily="18" charset="-78"/>
              </a:rPr>
              <a:t>الحیاء شعبۃ من الایمان</a:t>
            </a:r>
            <a:endParaRPr lang="en-US" sz="3500" dirty="0">
              <a:latin typeface="Traditional Arabic" panose="02020603050405020304" pitchFamily="18" charset="-78"/>
            </a:endParaRPr>
          </a:p>
          <a:p>
            <a:pPr marL="0" indent="0" algn="ctr">
              <a:buNone/>
            </a:pPr>
            <a:r>
              <a:rPr lang="en-US" sz="3500" dirty="0">
                <a:latin typeface="Times New Roman" panose="02020603050405020304" pitchFamily="18" charset="0"/>
                <a:cs typeface="Times New Roman" panose="02020603050405020304" pitchFamily="18" charset="0"/>
              </a:rPr>
              <a:t>Modesty is part of </a:t>
            </a:r>
            <a:r>
              <a:rPr lang="en-US" sz="3500" dirty="0" err="1">
                <a:latin typeface="Times New Roman" panose="02020603050405020304" pitchFamily="18" charset="0"/>
                <a:cs typeface="Times New Roman" panose="02020603050405020304" pitchFamily="18" charset="0"/>
              </a:rPr>
              <a:t>Imaan</a:t>
            </a:r>
            <a:endParaRPr lang="ur-PK"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116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6D91D-29FB-4703-BAED-302EAA026A94}"/>
              </a:ext>
            </a:extLst>
          </p:cNvPr>
          <p:cNvSpPr>
            <a:spLocks noGrp="1"/>
          </p:cNvSpPr>
          <p:nvPr>
            <p:ph type="title"/>
          </p:nvPr>
        </p:nvSpPr>
        <p:spPr/>
        <p:txBody>
          <a:bodyPr>
            <a:normAutofit fontScale="90000"/>
          </a:bodyPr>
          <a:lstStyle/>
          <a:p>
            <a:pPr algn="ctr"/>
            <a:r>
              <a:rPr lang="en-US" dirty="0"/>
              <a:t>ISLAMIC CIVILIZATION </a:t>
            </a:r>
            <a:r>
              <a:rPr lang="ur-PK" dirty="0"/>
              <a:t>(</a:t>
            </a:r>
            <a:r>
              <a:rPr lang="ur-PK" dirty="0">
                <a:latin typeface="Jameel Noori Nastaleeq" panose="02000503000000020004" pitchFamily="2" charset="-78"/>
                <a:cs typeface="Jameel Noori Nastaleeq" panose="02000503000000020004" pitchFamily="2" charset="-78"/>
              </a:rPr>
              <a:t>اسلامی تہذیب</a:t>
            </a:r>
            <a:r>
              <a:rPr lang="ur-PK" dirty="0"/>
              <a:t>)</a:t>
            </a:r>
            <a:br>
              <a:rPr lang="ur-PK" dirty="0"/>
            </a:br>
            <a:r>
              <a:rPr lang="en-US" sz="2700" b="1" dirty="0"/>
              <a:t>Characteristics of Islamic &amp; Prophetic Society</a:t>
            </a:r>
            <a:endParaRPr lang="en-US" sz="2700" dirty="0"/>
          </a:p>
        </p:txBody>
      </p:sp>
      <p:sp>
        <p:nvSpPr>
          <p:cNvPr id="3" name="Content Placeholder 2">
            <a:extLst>
              <a:ext uri="{FF2B5EF4-FFF2-40B4-BE49-F238E27FC236}">
                <a16:creationId xmlns:a16="http://schemas.microsoft.com/office/drawing/2014/main" id="{6EAE2F9A-1376-4CCA-B831-59B6513E6A04}"/>
              </a:ext>
            </a:extLst>
          </p:cNvPr>
          <p:cNvSpPr>
            <a:spLocks noGrp="1"/>
          </p:cNvSpPr>
          <p:nvPr>
            <p:ph idx="1"/>
          </p:nvPr>
        </p:nvSpPr>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Moderation</a:t>
            </a:r>
          </a:p>
          <a:p>
            <a:pPr marL="0" indent="0" algn="ctr">
              <a:buNone/>
            </a:pPr>
            <a:r>
              <a:rPr lang="ar-SA" dirty="0">
                <a:latin typeface="Traditional Arabic" panose="02020603050405020304" pitchFamily="18" charset="-78"/>
                <a:cs typeface="Traditional Arabic" panose="02020603050405020304" pitchFamily="18" charset="-78"/>
              </a:rPr>
              <a:t>وَكَذَٰلِكَ جَعَلْنَـٰكُمْ أُمَّةًۭ وَسَطًۭا</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And so We have made you believers an upright community</a:t>
            </a:r>
          </a:p>
          <a:p>
            <a:r>
              <a:rPr lang="en-US" b="1" dirty="0">
                <a:latin typeface="Times New Roman" panose="02020603050405020304" pitchFamily="18" charset="0"/>
                <a:cs typeface="Times New Roman" panose="02020603050405020304" pitchFamily="18" charset="0"/>
              </a:rPr>
              <a:t>Universality</a:t>
            </a:r>
          </a:p>
          <a:p>
            <a:r>
              <a:rPr lang="en-US" b="1" dirty="0">
                <a:latin typeface="Times New Roman" panose="02020603050405020304" pitchFamily="18" charset="0"/>
                <a:cs typeface="Times New Roman" panose="02020603050405020304" pitchFamily="18" charset="0"/>
              </a:rPr>
              <a:t>Combination of Spirituality and Materialism</a:t>
            </a:r>
          </a:p>
          <a:p>
            <a:pPr marL="0" indent="0" algn="ctr">
              <a:buNone/>
            </a:pPr>
            <a:r>
              <a:rPr lang="ar-SA" dirty="0">
                <a:latin typeface="Traditional Arabic" panose="02020603050405020304" pitchFamily="18" charset="-78"/>
                <a:cs typeface="Traditional Arabic" panose="02020603050405020304" pitchFamily="18" charset="-78"/>
              </a:rPr>
              <a:t>ٱلْيَوْمَ أَكْمَلْتُ لَكُمْ دِينَكُمْ وَأَتْمَمْتُ عَلَيْكُمْ نِعْمَتِى وَرَضِيتُ لَكُمُ ٱلْإِسْلَـٰمَ دِينًۭا</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Today I have perfected your faith for you, completed My </a:t>
            </a:r>
            <a:r>
              <a:rPr lang="en-US" dirty="0" err="1">
                <a:latin typeface="Times New Roman" panose="02020603050405020304" pitchFamily="18" charset="0"/>
                <a:cs typeface="Times New Roman" panose="02020603050405020304" pitchFamily="18" charset="0"/>
              </a:rPr>
              <a:t>favour</a:t>
            </a:r>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 upon you, and chosen Islam as your way.</a:t>
            </a:r>
          </a:p>
          <a:p>
            <a:pPr marL="0" indent="0">
              <a:buNone/>
            </a:pPr>
            <a:endParaRPr lang="en-US" dirty="0"/>
          </a:p>
        </p:txBody>
      </p:sp>
    </p:spTree>
    <p:extLst>
      <p:ext uri="{BB962C8B-B14F-4D97-AF65-F5344CB8AC3E}">
        <p14:creationId xmlns:p14="http://schemas.microsoft.com/office/powerpoint/2010/main" val="108043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3528-0838-487D-A320-31380D25028F}"/>
              </a:ext>
            </a:extLst>
          </p:cNvPr>
          <p:cNvSpPr>
            <a:spLocks noGrp="1"/>
          </p:cNvSpPr>
          <p:nvPr>
            <p:ph type="title"/>
          </p:nvPr>
        </p:nvSpPr>
        <p:spPr/>
        <p:txBody>
          <a:bodyPr>
            <a:normAutofit fontScale="90000"/>
          </a:bodyPr>
          <a:lstStyle/>
          <a:p>
            <a:pPr algn="ctr"/>
            <a:r>
              <a:rPr lang="en-US" dirty="0"/>
              <a:t>ISLAMIC CIVILIZATION </a:t>
            </a:r>
            <a:r>
              <a:rPr lang="ur-PK" dirty="0"/>
              <a:t>(</a:t>
            </a:r>
            <a:r>
              <a:rPr lang="ur-PK" dirty="0">
                <a:latin typeface="Jameel Noori Nastaleeq" panose="02000503000000020004" pitchFamily="2" charset="-78"/>
                <a:cs typeface="Jameel Noori Nastaleeq" panose="02000503000000020004" pitchFamily="2" charset="-78"/>
              </a:rPr>
              <a:t>اسلامی تہذیب</a:t>
            </a:r>
            <a:r>
              <a:rPr lang="ur-PK" dirty="0"/>
              <a:t>)</a:t>
            </a:r>
            <a:br>
              <a:rPr lang="ur-PK" dirty="0"/>
            </a:br>
            <a:r>
              <a:rPr lang="en-US" sz="2700" b="1" dirty="0"/>
              <a:t>Characteristics of Islamic &amp; Prophetic Society</a:t>
            </a:r>
            <a:endParaRPr lang="en-US" dirty="0"/>
          </a:p>
        </p:txBody>
      </p:sp>
      <p:sp>
        <p:nvSpPr>
          <p:cNvPr id="3" name="Content Placeholder 2">
            <a:extLst>
              <a:ext uri="{FF2B5EF4-FFF2-40B4-BE49-F238E27FC236}">
                <a16:creationId xmlns:a16="http://schemas.microsoft.com/office/drawing/2014/main" id="{8EBBF5EC-619D-45B9-9BE1-66D17C89C274}"/>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Unity and Harmony</a:t>
            </a:r>
          </a:p>
          <a:p>
            <a:pPr marL="0" indent="0" algn="ctr">
              <a:buNone/>
            </a:pPr>
            <a:r>
              <a:rPr lang="ar-SA" dirty="0">
                <a:latin typeface="Traditional Arabic" panose="02020603050405020304" pitchFamily="18" charset="-78"/>
                <a:cs typeface="Traditional Arabic" panose="02020603050405020304" pitchFamily="18" charset="-78"/>
              </a:rPr>
              <a:t>وَٱعْتَصِمُوا۟ بِحَبْلِ ٱللَّهِ جَمِيعًۭا وَلَا تَفَرَّقُوا۟ وَٱذْكُرُوا۟ نِعْمَتَ ٱللَّهِ عَلَيْكُمْ</a:t>
            </a:r>
            <a:endParaRPr lang="en-US" dirty="0">
              <a:latin typeface="Traditional Arabic" panose="02020603050405020304" pitchFamily="18" charset="-78"/>
              <a:cs typeface="Traditional Arabic" panose="02020603050405020304" pitchFamily="18" charset="-78"/>
            </a:endParaRPr>
          </a:p>
          <a:p>
            <a:pPr marL="0" indent="0" algn="ctr">
              <a:buNone/>
            </a:pPr>
            <a:r>
              <a:rPr lang="ar-SA" dirty="0">
                <a:latin typeface="Traditional Arabic" panose="02020603050405020304" pitchFamily="18" charset="-78"/>
                <a:cs typeface="Traditional Arabic" panose="02020603050405020304" pitchFamily="18" charset="-78"/>
              </a:rPr>
              <a:t> إِذْ كُنتُمْ أَعْدَآءًۭ فَأَلَّفَ بَيْنَ قُلُوبِكُمْ فَأَصْبَحْتُم بِنِعْمَتِهِۦٓ إِخْوَٰنًۭا</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And hold firmly to the rope of Allah and do not be divided. </a:t>
            </a:r>
          </a:p>
          <a:p>
            <a:pPr marL="0" indent="0" algn="ctr">
              <a:buNone/>
            </a:pPr>
            <a:r>
              <a:rPr lang="en-US" dirty="0">
                <a:latin typeface="Times New Roman" panose="02020603050405020304" pitchFamily="18" charset="0"/>
                <a:cs typeface="Times New Roman" panose="02020603050405020304" pitchFamily="18" charset="0"/>
              </a:rPr>
              <a:t>Remember Allah’s </a:t>
            </a:r>
            <a:r>
              <a:rPr lang="en-US" dirty="0" err="1">
                <a:latin typeface="Times New Roman" panose="02020603050405020304" pitchFamily="18" charset="0"/>
                <a:cs typeface="Times New Roman" panose="02020603050405020304" pitchFamily="18" charset="0"/>
              </a:rPr>
              <a:t>favour</a:t>
            </a:r>
            <a:r>
              <a:rPr lang="en-US" dirty="0">
                <a:latin typeface="Times New Roman" panose="02020603050405020304" pitchFamily="18" charset="0"/>
                <a:cs typeface="Times New Roman" panose="02020603050405020304" pitchFamily="18" charset="0"/>
              </a:rPr>
              <a:t> upon you when you were enemies,</a:t>
            </a:r>
          </a:p>
          <a:p>
            <a:pPr marL="0" indent="0" algn="ctr">
              <a:buNone/>
            </a:pPr>
            <a:r>
              <a:rPr lang="en-US" dirty="0">
                <a:latin typeface="Times New Roman" panose="02020603050405020304" pitchFamily="18" charset="0"/>
                <a:cs typeface="Times New Roman" panose="02020603050405020304" pitchFamily="18" charset="0"/>
              </a:rPr>
              <a:t> then He united your hearts, so you by His grace became brothers.</a:t>
            </a:r>
          </a:p>
        </p:txBody>
      </p:sp>
    </p:spTree>
    <p:extLst>
      <p:ext uri="{BB962C8B-B14F-4D97-AF65-F5344CB8AC3E}">
        <p14:creationId xmlns:p14="http://schemas.microsoft.com/office/powerpoint/2010/main" val="2467217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B7F2-A46D-476E-9A2D-6C67F7DD62DB}"/>
              </a:ext>
            </a:extLst>
          </p:cNvPr>
          <p:cNvSpPr>
            <a:spLocks noGrp="1"/>
          </p:cNvSpPr>
          <p:nvPr>
            <p:ph type="title"/>
          </p:nvPr>
        </p:nvSpPr>
        <p:spPr>
          <a:xfrm>
            <a:off x="1451579" y="848139"/>
            <a:ext cx="9603275" cy="1005616"/>
          </a:xfrm>
        </p:spPr>
        <p:txBody>
          <a:bodyPr>
            <a:normAutofit fontScale="90000"/>
          </a:bodyPr>
          <a:lstStyle/>
          <a:p>
            <a:pPr algn="ctr">
              <a:lnSpc>
                <a:spcPct val="100000"/>
              </a:lnSpc>
            </a:pPr>
            <a:r>
              <a:rPr lang="en-US" dirty="0"/>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dirty="0">
                <a:latin typeface="Jameel Noori Nastaleeq" panose="02000503000000020004" pitchFamily="2" charset="-78"/>
                <a:cs typeface="Jameel Noori Nastaleeq" panose="02000503000000020004" pitchFamily="2" charset="-78"/>
              </a:rPr>
            </a:br>
            <a:r>
              <a:rPr lang="en-US" sz="2700" b="1" dirty="0"/>
              <a:t>International Influences of Islamic Civilization</a:t>
            </a:r>
            <a:br>
              <a:rPr lang="en-US" b="1" dirty="0"/>
            </a:br>
            <a:endParaRPr lang="en-US" dirty="0">
              <a:latin typeface="Jameel Noori Nastaleeq" panose="02000503000000020004" pitchFamily="2" charset="-78"/>
              <a:cs typeface="Jameel Noori Nastaleeq" panose="02000503000000020004" pitchFamily="2" charset="-78"/>
            </a:endParaRPr>
          </a:p>
        </p:txBody>
      </p:sp>
      <p:sp>
        <p:nvSpPr>
          <p:cNvPr id="3" name="Content Placeholder 2">
            <a:extLst>
              <a:ext uri="{FF2B5EF4-FFF2-40B4-BE49-F238E27FC236}">
                <a16:creationId xmlns:a16="http://schemas.microsoft.com/office/drawing/2014/main" id="{4F674EA5-C031-4E13-AC81-4405E0B7111D}"/>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Educational Influences</a:t>
            </a:r>
          </a:p>
          <a:p>
            <a:r>
              <a:rPr lang="en-US" b="1" dirty="0">
                <a:latin typeface="Times New Roman" panose="02020603050405020304" pitchFamily="18" charset="0"/>
                <a:cs typeface="Times New Roman" panose="02020603050405020304" pitchFamily="18" charset="0"/>
              </a:rPr>
              <a:t>Development in Educational System</a:t>
            </a:r>
          </a:p>
          <a:p>
            <a:pPr marL="0" indent="0">
              <a:buNone/>
            </a:pPr>
            <a:r>
              <a:rPr lang="en-US" dirty="0">
                <a:latin typeface="Times New Roman" panose="02020603050405020304" pitchFamily="18" charset="0"/>
                <a:cs typeface="Times New Roman" panose="02020603050405020304" pitchFamily="18" charset="0"/>
              </a:rPr>
              <a:t>Organizing education on systematic basis in Akbar emperor. Every student receive education according to his religion. Girls received their education at home. There was a special arrangement for the education of ladies in royal household</a:t>
            </a:r>
          </a:p>
          <a:p>
            <a:r>
              <a:rPr lang="en-US" b="1" dirty="0">
                <a:latin typeface="Times New Roman" panose="02020603050405020304" pitchFamily="18" charset="0"/>
                <a:cs typeface="Times New Roman" panose="02020603050405020304" pitchFamily="18" charset="0"/>
              </a:rPr>
              <a:t>Urdu Language</a:t>
            </a:r>
          </a:p>
          <a:p>
            <a:pPr marL="0" indent="0">
              <a:buNone/>
            </a:pPr>
            <a:r>
              <a:rPr lang="en-US" dirty="0">
                <a:latin typeface="Times New Roman" panose="02020603050405020304" pitchFamily="18" charset="0"/>
                <a:cs typeface="Times New Roman" panose="02020603050405020304" pitchFamily="18" charset="0"/>
              </a:rPr>
              <a:t>Muslims produced cross cultural influence through educational system. Ultimately, it develop a common medium of expression, Urdu.</a:t>
            </a:r>
          </a:p>
        </p:txBody>
      </p:sp>
    </p:spTree>
    <p:extLst>
      <p:ext uri="{BB962C8B-B14F-4D97-AF65-F5344CB8AC3E}">
        <p14:creationId xmlns:p14="http://schemas.microsoft.com/office/powerpoint/2010/main" val="706561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B0C1-0F5B-452C-9243-BC2A0066D068}"/>
              </a:ext>
            </a:extLst>
          </p:cNvPr>
          <p:cNvSpPr>
            <a:spLocks noGrp="1"/>
          </p:cNvSpPr>
          <p:nvPr>
            <p:ph type="title"/>
          </p:nvPr>
        </p:nvSpPr>
        <p:spPr/>
        <p:txBody>
          <a:bodyPr>
            <a:normAutofit fontScale="90000"/>
          </a:bodyPr>
          <a:lstStyle/>
          <a:p>
            <a:pPr algn="ctr"/>
            <a:r>
              <a:rPr lang="en-US" dirty="0"/>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dirty="0">
                <a:latin typeface="Jameel Noori Nastaleeq" panose="02000503000000020004" pitchFamily="2" charset="-78"/>
                <a:cs typeface="Jameel Noori Nastaleeq" panose="02000503000000020004" pitchFamily="2" charset="-78"/>
              </a:rPr>
            </a:br>
            <a:r>
              <a:rPr lang="en-US" sz="2700" b="1" dirty="0"/>
              <a:t>International Influences of Islamic Civilization</a:t>
            </a:r>
            <a:br>
              <a:rPr lang="en-US" b="1" dirty="0"/>
            </a:br>
            <a:endParaRPr lang="en-US" dirty="0"/>
          </a:p>
        </p:txBody>
      </p:sp>
      <p:sp>
        <p:nvSpPr>
          <p:cNvPr id="3" name="Content Placeholder 2">
            <a:extLst>
              <a:ext uri="{FF2B5EF4-FFF2-40B4-BE49-F238E27FC236}">
                <a16:creationId xmlns:a16="http://schemas.microsoft.com/office/drawing/2014/main" id="{22630BC6-0391-4440-A093-987012F683F4}"/>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Indo-Islamic Art</a:t>
            </a:r>
          </a:p>
          <a:p>
            <a:pPr marL="0" indent="0">
              <a:buNone/>
            </a:pPr>
            <a:r>
              <a:rPr lang="en-US" dirty="0">
                <a:latin typeface="Times New Roman" panose="02020603050405020304" pitchFamily="18" charset="0"/>
                <a:cs typeface="Times New Roman" panose="02020603050405020304" pitchFamily="18" charset="0"/>
              </a:rPr>
              <a:t>Painting of human is considered sacrilege in Islam, but under the Mughals, the art of portraiture reached a high pedestal. Portraits of emperors, noble, theme of nature, hunting scene etc.</a:t>
            </a:r>
          </a:p>
          <a:p>
            <a:r>
              <a:rPr lang="en-US" b="1" dirty="0">
                <a:latin typeface="Times New Roman" panose="02020603050405020304" pitchFamily="18" charset="0"/>
                <a:cs typeface="Times New Roman" panose="02020603050405020304" pitchFamily="18" charset="0"/>
              </a:rPr>
              <a:t>Music</a:t>
            </a:r>
          </a:p>
          <a:p>
            <a:r>
              <a:rPr lang="en-US" b="1" dirty="0">
                <a:latin typeface="Times New Roman" panose="02020603050405020304" pitchFamily="18" charset="0"/>
                <a:cs typeface="Times New Roman" panose="02020603050405020304" pitchFamily="18" charset="0"/>
              </a:rPr>
              <a:t>Arabic, Persian &amp; Regional Languages</a:t>
            </a:r>
          </a:p>
          <a:p>
            <a:pPr marL="0" indent="0">
              <a:buNone/>
            </a:pPr>
            <a:r>
              <a:rPr lang="en-US" dirty="0">
                <a:latin typeface="Times New Roman" panose="02020603050405020304" pitchFamily="18" charset="0"/>
                <a:cs typeface="Times New Roman" panose="02020603050405020304" pitchFamily="18" charset="0"/>
              </a:rPr>
              <a:t>Persian as a court language, classical books were translated to Persian by </a:t>
            </a:r>
            <a:r>
              <a:rPr lang="en-US" dirty="0" err="1">
                <a:latin typeface="Times New Roman" panose="02020603050405020304" pitchFamily="18" charset="0"/>
                <a:cs typeface="Times New Roman" panose="02020603050405020304" pitchFamily="18" charset="0"/>
              </a:rPr>
              <a:t>Akber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253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AE9D-6AFB-473B-B985-CFA5C675921F}"/>
              </a:ext>
            </a:extLst>
          </p:cNvPr>
          <p:cNvSpPr>
            <a:spLocks noGrp="1"/>
          </p:cNvSpPr>
          <p:nvPr>
            <p:ph type="title"/>
          </p:nvPr>
        </p:nvSpPr>
        <p:spPr/>
        <p:txBody>
          <a:bodyPr>
            <a:normAutofit/>
          </a:bodyPr>
          <a:lstStyle/>
          <a:p>
            <a:pPr algn="ctr">
              <a:lnSpc>
                <a:spcPct val="100000"/>
              </a:lnSpc>
            </a:pPr>
            <a:r>
              <a:rPr lang="en-US" sz="2900" dirty="0"/>
              <a:t>ISLAMIC CIVILIZATION </a:t>
            </a:r>
            <a:r>
              <a:rPr lang="ur-PK" sz="2900" dirty="0">
                <a:latin typeface="Jameel Noori Nastaleeq" panose="02000503000000020004" pitchFamily="2" charset="-78"/>
                <a:cs typeface="Jameel Noori Nastaleeq" panose="02000503000000020004" pitchFamily="2" charset="-78"/>
              </a:rPr>
              <a:t>(اسلامی تہذیب)</a:t>
            </a:r>
            <a:br>
              <a:rPr lang="ur-PK" sz="2900" dirty="0">
                <a:latin typeface="Jameel Noori Nastaleeq" panose="02000503000000020004" pitchFamily="2" charset="-78"/>
                <a:cs typeface="Jameel Noori Nastaleeq" panose="02000503000000020004" pitchFamily="2" charset="-78"/>
              </a:rPr>
            </a:br>
            <a:r>
              <a:rPr lang="en-US" sz="2400" b="1" dirty="0"/>
              <a:t>International Influences of Islamic Civilization</a:t>
            </a:r>
            <a:endParaRPr lang="en-US" sz="2400" dirty="0"/>
          </a:p>
        </p:txBody>
      </p:sp>
      <p:sp>
        <p:nvSpPr>
          <p:cNvPr id="3" name="Content Placeholder 2">
            <a:extLst>
              <a:ext uri="{FF2B5EF4-FFF2-40B4-BE49-F238E27FC236}">
                <a16:creationId xmlns:a16="http://schemas.microsoft.com/office/drawing/2014/main" id="{CAF29DD0-EE84-4046-A915-5E76CEE45B12}"/>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Calligraphy</a:t>
            </a:r>
          </a:p>
          <a:p>
            <a:pPr marL="0" indent="0">
              <a:buNone/>
            </a:pPr>
            <a:r>
              <a:rPr lang="en-US" dirty="0">
                <a:latin typeface="Times New Roman" panose="02020603050405020304" pitchFamily="18" charset="0"/>
                <a:cs typeface="Times New Roman" panose="02020603050405020304" pitchFamily="18" charset="0"/>
              </a:rPr>
              <a:t>Calligraphy was flourished during the region of Muslims. They hired calligraphers for keeping record of governmental affairs.</a:t>
            </a:r>
          </a:p>
          <a:p>
            <a:r>
              <a:rPr lang="en-US" b="1" dirty="0">
                <a:latin typeface="Times New Roman" panose="02020603050405020304" pitchFamily="18" charset="0"/>
                <a:cs typeface="Times New Roman" panose="02020603050405020304" pitchFamily="18" charset="0"/>
              </a:rPr>
              <a:t>Architecture</a:t>
            </a:r>
          </a:p>
          <a:p>
            <a:pPr marL="0" indent="0">
              <a:buNone/>
            </a:pPr>
            <a:r>
              <a:rPr lang="en-US" dirty="0">
                <a:latin typeface="Times New Roman" panose="02020603050405020304" pitchFamily="18" charset="0"/>
                <a:cs typeface="Times New Roman" panose="02020603050405020304" pitchFamily="18" charset="0"/>
              </a:rPr>
              <a:t>Islamic style of domes and arches</a:t>
            </a:r>
          </a:p>
        </p:txBody>
      </p:sp>
    </p:spTree>
    <p:extLst>
      <p:ext uri="{BB962C8B-B14F-4D97-AF65-F5344CB8AC3E}">
        <p14:creationId xmlns:p14="http://schemas.microsoft.com/office/powerpoint/2010/main" val="1253273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33D0E-E39B-4B95-BD86-C86E10BE4048}"/>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4000"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educational Influences</a:t>
            </a:r>
            <a:endParaRPr lang="en-US" sz="2700" dirty="0"/>
          </a:p>
        </p:txBody>
      </p:sp>
      <p:sp>
        <p:nvSpPr>
          <p:cNvPr id="3" name="Content Placeholder 2">
            <a:extLst>
              <a:ext uri="{FF2B5EF4-FFF2-40B4-BE49-F238E27FC236}">
                <a16:creationId xmlns:a16="http://schemas.microsoft.com/office/drawing/2014/main" id="{53D7FA24-FCC4-4E82-AFEB-5A25C9A14A44}"/>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Seeking knowledge in Quran and </a:t>
            </a:r>
            <a:r>
              <a:rPr lang="en-US" b="1" dirty="0" err="1">
                <a:latin typeface="Times New Roman" panose="02020603050405020304" pitchFamily="18" charset="0"/>
                <a:cs typeface="Times New Roman" panose="02020603050405020304" pitchFamily="18" charset="0"/>
              </a:rPr>
              <a:t>Hadees</a:t>
            </a:r>
            <a:endParaRPr lang="ur-PK" b="1" dirty="0">
              <a:latin typeface="Times New Roman" panose="02020603050405020304" pitchFamily="18" charset="0"/>
              <a:cs typeface="Times New Roman" panose="02020603050405020304" pitchFamily="18" charset="0"/>
            </a:endParaRPr>
          </a:p>
          <a:p>
            <a:pPr marL="0" indent="0" algn="ctr">
              <a:buNone/>
            </a:pPr>
            <a:r>
              <a:rPr lang="ar-SA" dirty="0">
                <a:latin typeface="Traditional Arabic" panose="02020603050405020304" pitchFamily="18" charset="-78"/>
                <a:cs typeface="Traditional Arabic" panose="02020603050405020304" pitchFamily="18" charset="-78"/>
              </a:rPr>
              <a:t>یَرۡفَعِ اللّٰه الَّذِیۡنَ اٰمَنُوۡا مِنۡکُمۡ وَ الَّذِیۡنَ اُوۡتُوا الۡعِلۡمَ دَرَجٰتٍ</a:t>
            </a:r>
          </a:p>
          <a:p>
            <a:pPr marL="0" indent="0" algn="ctr">
              <a:buNone/>
            </a:pPr>
            <a:r>
              <a:rPr lang="en-US" dirty="0">
                <a:latin typeface="Traditional Arabic" panose="02020603050405020304" pitchFamily="18" charset="-78"/>
                <a:cs typeface="Traditional Arabic" panose="02020603050405020304" pitchFamily="18" charset="-78"/>
              </a:rPr>
              <a:t>Allah will raise those who have believed among you</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latin typeface="Traditional Arabic" panose="02020603050405020304" pitchFamily="18" charset="-78"/>
                <a:cs typeface="Traditional Arabic" panose="02020603050405020304" pitchFamily="18" charset="-78"/>
              </a:rPr>
              <a:t> and those who were given knowledge, by degrees</a:t>
            </a:r>
          </a:p>
          <a:p>
            <a:pPr marL="0" indent="0" algn="ctr">
              <a:buNone/>
            </a:pPr>
            <a:r>
              <a:rPr lang="ur-PK" dirty="0">
                <a:latin typeface="Traditional Arabic" panose="02020603050405020304" pitchFamily="18" charset="-78"/>
                <a:cs typeface="Traditional Arabic" panose="02020603050405020304" pitchFamily="18" charset="-78"/>
              </a:rPr>
              <a:t>طلب العلم فریض</a:t>
            </a:r>
            <a:r>
              <a:rPr lang="ar-SA" dirty="0">
                <a:latin typeface="Traditional Arabic" panose="02020603050405020304" pitchFamily="18" charset="-78"/>
                <a:cs typeface="Traditional Arabic" panose="02020603050405020304" pitchFamily="18" charset="-78"/>
              </a:rPr>
              <a:t>ة</a:t>
            </a:r>
            <a:r>
              <a:rPr lang="ur-PK" dirty="0">
                <a:latin typeface="Traditional Arabic" panose="02020603050405020304" pitchFamily="18" charset="-78"/>
                <a:cs typeface="Traditional Arabic" panose="02020603050405020304" pitchFamily="18" charset="-78"/>
              </a:rPr>
              <a:t> علی کل مسلم ومسلم</a:t>
            </a:r>
            <a:r>
              <a:rPr lang="ar-SA" dirty="0">
                <a:latin typeface="Traditional Arabic" panose="02020603050405020304" pitchFamily="18" charset="-78"/>
                <a:cs typeface="Traditional Arabic" panose="02020603050405020304" pitchFamily="18" charset="-78"/>
              </a:rPr>
              <a:t>ة</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latin typeface="Traditional Arabic" panose="02020603050405020304" pitchFamily="18" charset="-78"/>
                <a:cs typeface="Traditional Arabic" panose="02020603050405020304" pitchFamily="18" charset="-78"/>
              </a:rPr>
              <a:t>The requisition of knowledge is compulsory for every</a:t>
            </a:r>
          </a:p>
          <a:p>
            <a:pPr marL="0" indent="0" algn="ctr">
              <a:buNone/>
            </a:pPr>
            <a:r>
              <a:rPr lang="en-US" dirty="0">
                <a:latin typeface="Traditional Arabic" panose="02020603050405020304" pitchFamily="18" charset="-78"/>
                <a:cs typeface="Traditional Arabic" panose="02020603050405020304" pitchFamily="18" charset="-78"/>
              </a:rPr>
              <a:t> Muslim, whether male or female</a:t>
            </a:r>
          </a:p>
        </p:txBody>
      </p:sp>
    </p:spTree>
    <p:extLst>
      <p:ext uri="{BB962C8B-B14F-4D97-AF65-F5344CB8AC3E}">
        <p14:creationId xmlns:p14="http://schemas.microsoft.com/office/powerpoint/2010/main" val="2661530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23004-C24E-4AF6-BE51-EBD0143BEBFA}"/>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en-US" sz="4400"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educational Influences</a:t>
            </a:r>
            <a:endParaRPr lang="en-US" sz="27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6BA429-5600-4379-811E-7EA368E9D04C}"/>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Objectives of Seeking Knowledge</a:t>
            </a:r>
          </a:p>
          <a:p>
            <a:pPr marL="0" indent="0">
              <a:buNone/>
            </a:pPr>
            <a:r>
              <a:rPr lang="en-US" dirty="0">
                <a:latin typeface="Times New Roman" panose="02020603050405020304" pitchFamily="18" charset="0"/>
                <a:cs typeface="Times New Roman" panose="02020603050405020304" pitchFamily="18" charset="0"/>
              </a:rPr>
              <a:t>The objective of Islamic knowledge is to enable the Muslim student to understand the purpose of humankind's creation and existence through an ethical analysis of nature and how nature behaves.</a:t>
            </a:r>
          </a:p>
          <a:p>
            <a:pPr marL="0" indent="0" algn="ctr">
              <a:buNone/>
            </a:pPr>
            <a:r>
              <a:rPr lang="ar-SA" dirty="0">
                <a:latin typeface="Traditional Arabic" panose="02020603050405020304" pitchFamily="18" charset="-78"/>
                <a:cs typeface="Traditional Arabic" panose="02020603050405020304" pitchFamily="18" charset="-78"/>
              </a:rPr>
              <a:t>وَسَخَّرَ لَكُم مَّا فِي السَّمَاوَاتِ وَمَا فِي الْأَرْضِ جَمِيعًا مِّنْهُ إِنَّ فِي ذَٰلِكَ لَآيَاتٍ لِّقَوْمٍ يَتَفَكَّرُونَ</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And He has subjected to you whatever is in the heavens and whatever is on the earth</a:t>
            </a:r>
          </a:p>
          <a:p>
            <a:pPr marL="0" indent="0" algn="ctr">
              <a:buNone/>
            </a:pPr>
            <a:r>
              <a:rPr lang="en-US" dirty="0">
                <a:latin typeface="Times New Roman" panose="02020603050405020304" pitchFamily="18" charset="0"/>
                <a:cs typeface="Times New Roman" panose="02020603050405020304" pitchFamily="18" charset="0"/>
              </a:rPr>
              <a:t>all from Him. Indeed in that are signs for people who give thought.</a:t>
            </a:r>
          </a:p>
          <a:p>
            <a:pPr marL="0" indent="0">
              <a:buNone/>
            </a:pPr>
            <a:endParaRPr lang="en-US" dirty="0"/>
          </a:p>
        </p:txBody>
      </p:sp>
    </p:spTree>
    <p:extLst>
      <p:ext uri="{BB962C8B-B14F-4D97-AF65-F5344CB8AC3E}">
        <p14:creationId xmlns:p14="http://schemas.microsoft.com/office/powerpoint/2010/main" val="3347820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49B52-AE4B-4014-99A4-0C9001FCA2F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4400"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educational Influences</a:t>
            </a:r>
            <a:endParaRPr lang="en-US" dirty="0"/>
          </a:p>
        </p:txBody>
      </p:sp>
      <p:sp>
        <p:nvSpPr>
          <p:cNvPr id="3" name="Content Placeholder 2">
            <a:extLst>
              <a:ext uri="{FF2B5EF4-FFF2-40B4-BE49-F238E27FC236}">
                <a16:creationId xmlns:a16="http://schemas.microsoft.com/office/drawing/2014/main" id="{D1DD65F4-B5AD-45A1-8A10-1245017D6B74}"/>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Regular System of Education</a:t>
            </a:r>
          </a:p>
          <a:p>
            <a:pPr marL="0" indent="0">
              <a:buNone/>
            </a:pPr>
            <a:r>
              <a:rPr lang="en-US" dirty="0">
                <a:latin typeface="Times New Roman" panose="02020603050405020304" pitchFamily="18" charset="0"/>
                <a:cs typeface="Times New Roman" panose="02020603050405020304" pitchFamily="18" charset="0"/>
              </a:rPr>
              <a:t>The educational system established by Holy Prophet PBUH continued under the right guided caliphs in Islamic state like, Iraq, Syria, Egypt, Palestine, Iran, etc.</a:t>
            </a:r>
          </a:p>
          <a:p>
            <a:r>
              <a:rPr lang="en-US" b="1" dirty="0" err="1">
                <a:latin typeface="Times New Roman" panose="02020603050405020304" pitchFamily="18" charset="0"/>
                <a:cs typeface="Times New Roman" panose="02020603050405020304" pitchFamily="18" charset="0"/>
              </a:rPr>
              <a:t>Suffa</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first educational center in the time of Holy Prophet PBUH. The number of students of </a:t>
            </a:r>
            <a:r>
              <a:rPr lang="en-US" dirty="0" err="1">
                <a:latin typeface="Times New Roman" panose="02020603050405020304" pitchFamily="18" charset="0"/>
                <a:cs typeface="Times New Roman" panose="02020603050405020304" pitchFamily="18" charset="0"/>
              </a:rPr>
              <a:t>Suffa</a:t>
            </a:r>
            <a:r>
              <a:rPr lang="en-US" dirty="0">
                <a:latin typeface="Times New Roman" panose="02020603050405020304" pitchFamily="18" charset="0"/>
                <a:cs typeface="Times New Roman" panose="02020603050405020304" pitchFamily="18" charset="0"/>
              </a:rPr>
              <a:t> in various time was about 400.</a:t>
            </a:r>
          </a:p>
          <a:p>
            <a:r>
              <a:rPr lang="en-US" b="1" dirty="0">
                <a:latin typeface="Times New Roman" panose="02020603050405020304" pitchFamily="18" charset="0"/>
                <a:cs typeface="Times New Roman" panose="02020603050405020304" pitchFamily="18" charset="0"/>
              </a:rPr>
              <a:t>Mosque</a:t>
            </a:r>
          </a:p>
          <a:p>
            <a:pPr marL="0" indent="0">
              <a:buNone/>
            </a:pPr>
            <a:r>
              <a:rPr lang="en-US" dirty="0">
                <a:latin typeface="Times New Roman" panose="02020603050405020304" pitchFamily="18" charset="0"/>
                <a:cs typeface="Times New Roman" panose="02020603050405020304" pitchFamily="18" charset="0"/>
              </a:rPr>
              <a:t>Mosque was community</a:t>
            </a:r>
          </a:p>
        </p:txBody>
      </p:sp>
    </p:spTree>
    <p:extLst>
      <p:ext uri="{BB962C8B-B14F-4D97-AF65-F5344CB8AC3E}">
        <p14:creationId xmlns:p14="http://schemas.microsoft.com/office/powerpoint/2010/main" val="1152596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54B9A-512A-408A-8830-7D0AEEA5570C}"/>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4400"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educational Influences</a:t>
            </a:r>
            <a:endParaRPr lang="en-US" dirty="0"/>
          </a:p>
        </p:txBody>
      </p:sp>
      <p:sp>
        <p:nvSpPr>
          <p:cNvPr id="3" name="Content Placeholder 2">
            <a:extLst>
              <a:ext uri="{FF2B5EF4-FFF2-40B4-BE49-F238E27FC236}">
                <a16:creationId xmlns:a16="http://schemas.microsoft.com/office/drawing/2014/main" id="{D983EFF7-DBBF-4424-9200-C3A7FF79C246}"/>
              </a:ext>
            </a:extLst>
          </p:cNvPr>
          <p:cNvSpPr>
            <a:spLocks noGrp="1"/>
          </p:cNvSpPr>
          <p:nvPr>
            <p:ph idx="1"/>
          </p:nvPr>
        </p:nvSpPr>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The Rightest Caliphs</a:t>
            </a:r>
          </a:p>
          <a:p>
            <a:pPr marL="0" indent="0">
              <a:buNone/>
            </a:pPr>
            <a:r>
              <a:rPr lang="en-US" dirty="0">
                <a:latin typeface="Times New Roman" panose="02020603050405020304" pitchFamily="18" charset="0"/>
                <a:cs typeface="Times New Roman" panose="02020603050405020304" pitchFamily="18" charset="0"/>
              </a:rPr>
              <a:t>Compilation of the Holy Quran </a:t>
            </a:r>
            <a:r>
              <a:rPr lang="en-US" dirty="0" err="1">
                <a:latin typeface="Times New Roman" panose="02020603050405020304" pitchFamily="18" charset="0"/>
                <a:cs typeface="Times New Roman" panose="02020603050405020304" pitchFamily="18" charset="0"/>
              </a:rPr>
              <a:t>etc</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Banu </a:t>
            </a:r>
            <a:r>
              <a:rPr lang="en-US" b="1" dirty="0" err="1">
                <a:latin typeface="Times New Roman" panose="02020603050405020304" pitchFamily="18" charset="0"/>
                <a:cs typeface="Times New Roman" panose="02020603050405020304" pitchFamily="18" charset="0"/>
              </a:rPr>
              <a:t>Ummayah</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Arabic became the administrative language</a:t>
            </a:r>
          </a:p>
          <a:p>
            <a:r>
              <a:rPr lang="en-US" b="1" dirty="0">
                <a:latin typeface="Times New Roman" panose="02020603050405020304" pitchFamily="18" charset="0"/>
                <a:cs typeface="Times New Roman" panose="02020603050405020304" pitchFamily="18" charset="0"/>
              </a:rPr>
              <a:t>Banu Abbas</a:t>
            </a:r>
          </a:p>
          <a:p>
            <a:pPr marL="0" indent="0">
              <a:buNone/>
            </a:pPr>
            <a:r>
              <a:rPr lang="en-US" dirty="0">
                <a:latin typeface="Times New Roman" panose="02020603050405020304" pitchFamily="18" charset="0"/>
                <a:cs typeface="Times New Roman" panose="02020603050405020304" pitchFamily="18" charset="0"/>
              </a:rPr>
              <a:t>Many classical books were translated to Arabic in House of Wisdom.</a:t>
            </a:r>
          </a:p>
          <a:p>
            <a:r>
              <a:rPr lang="en-US" b="1" dirty="0">
                <a:latin typeface="Times New Roman" panose="02020603050405020304" pitchFamily="18" charset="0"/>
                <a:cs typeface="Times New Roman" panose="02020603050405020304" pitchFamily="18" charset="0"/>
              </a:rPr>
              <a:t>Seljuks </a:t>
            </a:r>
            <a:r>
              <a:rPr lang="en-US" b="1" dirty="0" err="1">
                <a:latin typeface="Times New Roman" panose="02020603050405020304" pitchFamily="18" charset="0"/>
                <a:cs typeface="Times New Roman" panose="02020603050405020304" pitchFamily="18" charset="0"/>
              </a:rPr>
              <a:t>Dynsty</a:t>
            </a:r>
            <a:endParaRPr lang="en-US" b="1"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Nizamiyah</a:t>
            </a:r>
            <a:r>
              <a:rPr lang="en-US" dirty="0">
                <a:latin typeface="Times New Roman" panose="02020603050405020304" pitchFamily="18" charset="0"/>
                <a:cs typeface="Times New Roman" panose="02020603050405020304" pitchFamily="18" charset="0"/>
              </a:rPr>
              <a:t> University of Baghdad and </a:t>
            </a:r>
            <a:r>
              <a:rPr lang="en-US" dirty="0" err="1">
                <a:latin typeface="Times New Roman" panose="02020603050405020304" pitchFamily="18" charset="0"/>
                <a:cs typeface="Times New Roman" panose="02020603050405020304" pitchFamily="18" charset="0"/>
              </a:rPr>
              <a:t>Neshapur</a:t>
            </a:r>
            <a:r>
              <a:rPr lang="en-US" dirty="0">
                <a:latin typeface="Times New Roman" panose="02020603050405020304" pitchFamily="18" charset="0"/>
                <a:cs typeface="Times New Roman" panose="02020603050405020304" pitchFamily="18" charset="0"/>
              </a:rPr>
              <a:t> were characterized by astronomer Umar Khayyam, philosopher Al-Ghazali</a:t>
            </a:r>
          </a:p>
        </p:txBody>
      </p:sp>
    </p:spTree>
    <p:extLst>
      <p:ext uri="{BB962C8B-B14F-4D97-AF65-F5344CB8AC3E}">
        <p14:creationId xmlns:p14="http://schemas.microsoft.com/office/powerpoint/2010/main" val="2340019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CEC29-86C9-42E9-9272-A1E249B807D6}"/>
              </a:ext>
            </a:extLst>
          </p:cNvPr>
          <p:cNvSpPr>
            <a:spLocks noGrp="1"/>
          </p:cNvSpPr>
          <p:nvPr>
            <p:ph type="title"/>
          </p:nvPr>
        </p:nvSpPr>
        <p:spPr/>
        <p:txBody>
          <a:bodyPr>
            <a:normAutofit fontScale="90000"/>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4400"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Characteristics &amp; Attribute of Islamic education</a:t>
            </a:r>
          </a:p>
        </p:txBody>
      </p:sp>
      <p:sp>
        <p:nvSpPr>
          <p:cNvPr id="3" name="Content Placeholder 2">
            <a:extLst>
              <a:ext uri="{FF2B5EF4-FFF2-40B4-BE49-F238E27FC236}">
                <a16:creationId xmlns:a16="http://schemas.microsoft.com/office/drawing/2014/main" id="{C1346CB7-F22C-4E1E-9D42-733CF61980C7}"/>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Ponderance on the creation of man</a:t>
            </a:r>
          </a:p>
          <a:p>
            <a:pPr marL="0" indent="0">
              <a:buNone/>
            </a:pPr>
            <a:r>
              <a:rPr lang="en-US" dirty="0">
                <a:latin typeface="Times New Roman" panose="02020603050405020304" pitchFamily="18" charset="0"/>
                <a:cs typeface="Times New Roman" panose="02020603050405020304" pitchFamily="18" charset="0"/>
              </a:rPr>
              <a:t>Islamic education focus on ponderance of universe.</a:t>
            </a:r>
          </a:p>
          <a:p>
            <a:r>
              <a:rPr lang="en-US" b="1" dirty="0">
                <a:latin typeface="Times New Roman" panose="02020603050405020304" pitchFamily="18" charset="0"/>
                <a:cs typeface="Times New Roman" panose="02020603050405020304" pitchFamily="18" charset="0"/>
              </a:rPr>
              <a:t>Beneficial Knowledge</a:t>
            </a:r>
          </a:p>
          <a:p>
            <a:pPr marL="0" indent="0" algn="ctr">
              <a:buNone/>
            </a:pPr>
            <a:r>
              <a:rPr lang="ar-SA" dirty="0">
                <a:latin typeface="Traditional Arabic" panose="02020603050405020304" pitchFamily="18" charset="-78"/>
                <a:cs typeface="Traditional Arabic" panose="02020603050405020304" pitchFamily="18" charset="-78"/>
              </a:rPr>
              <a:t>قال رسول الله صلى الله عليه وسلم:" الكلمة الحكمة ضالة المؤمن , حيثما وجدها , فهو احق بها".</a:t>
            </a:r>
            <a:endParaRPr lang="en-US"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Wisdom is the lost capital of the believer, wherever he finds it,</a:t>
            </a:r>
          </a:p>
          <a:p>
            <a:pPr marL="0" indent="0" algn="ctr">
              <a:buNone/>
            </a:pPr>
            <a:r>
              <a:rPr lang="en-US" dirty="0">
                <a:latin typeface="Times New Roman" panose="02020603050405020304" pitchFamily="18" charset="0"/>
                <a:cs typeface="Times New Roman" panose="02020603050405020304" pitchFamily="18" charset="0"/>
              </a:rPr>
              <a:t> he is the most deserving of it.</a:t>
            </a:r>
          </a:p>
        </p:txBody>
      </p:sp>
    </p:spTree>
    <p:extLst>
      <p:ext uri="{BB962C8B-B14F-4D97-AF65-F5344CB8AC3E}">
        <p14:creationId xmlns:p14="http://schemas.microsoft.com/office/powerpoint/2010/main" val="1754592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1F710-54A0-46D7-A674-52A9E47FFC22}"/>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4800"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Attribute of Islamic education</a:t>
            </a:r>
            <a:endParaRPr lang="en-US" sz="2700" dirty="0"/>
          </a:p>
        </p:txBody>
      </p:sp>
      <p:sp>
        <p:nvSpPr>
          <p:cNvPr id="3" name="Content Placeholder 2">
            <a:extLst>
              <a:ext uri="{FF2B5EF4-FFF2-40B4-BE49-F238E27FC236}">
                <a16:creationId xmlns:a16="http://schemas.microsoft.com/office/drawing/2014/main" id="{E1533B8F-075C-4A7B-8BBC-94392C1B03A0}"/>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Inclination in search of Universe</a:t>
            </a:r>
            <a:endParaRPr lang="ar-SA" b="1" dirty="0">
              <a:latin typeface="Times New Roman" panose="02020603050405020304" pitchFamily="18" charset="0"/>
              <a:cs typeface="Times New Roman" panose="02020603050405020304" pitchFamily="18" charset="0"/>
            </a:endParaRPr>
          </a:p>
          <a:p>
            <a:pPr marL="0" indent="0" algn="ctr">
              <a:buNone/>
            </a:pPr>
            <a:r>
              <a:rPr lang="ar-SA" dirty="0">
                <a:latin typeface="Traditional Arabic" panose="02020603050405020304" pitchFamily="18" charset="-78"/>
                <a:cs typeface="Traditional Arabic" panose="02020603050405020304" pitchFamily="18" charset="-78"/>
              </a:rPr>
              <a:t>إِنَّ فِى خَلْقِ ٱلسَّمَـٰوَٰتِ وَٱلْأَرْضِ وَٱخْتِلَـٰفِ ٱلَّيْلِ وَٱلنَّهَارِ لَـَٔايَـٰتٍۢ لِّأُو۟لِى ٱلْأَلْبَـ</a:t>
            </a:r>
            <a:r>
              <a:rPr lang="ur-PK" dirty="0">
                <a:latin typeface="Traditional Arabic" panose="02020603050405020304" pitchFamily="18" charset="-78"/>
                <a:cs typeface="Traditional Arabic" panose="02020603050405020304" pitchFamily="18" charset="-78"/>
              </a:rPr>
              <a:t>ا</a:t>
            </a:r>
            <a:r>
              <a:rPr lang="ar-SA" dirty="0">
                <a:latin typeface="Traditional Arabic" panose="02020603050405020304" pitchFamily="18" charset="-78"/>
                <a:cs typeface="Traditional Arabic" panose="02020603050405020304" pitchFamily="18" charset="-78"/>
              </a:rPr>
              <a:t>بِ</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Indeed, in the creation of the heavens and the earth and </a:t>
            </a:r>
            <a:endParaRPr lang="ur-PK"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the alternation of the day and night there are signs for people of reason.</a:t>
            </a:r>
          </a:p>
          <a:p>
            <a:r>
              <a:rPr lang="en-US" b="1" dirty="0">
                <a:latin typeface="Times New Roman" panose="02020603050405020304" pitchFamily="18" charset="0"/>
                <a:cs typeface="Times New Roman" panose="02020603050405020304" pitchFamily="18" charset="0"/>
              </a:rPr>
              <a:t>Respect of Human Being</a:t>
            </a:r>
          </a:p>
          <a:p>
            <a:endParaRPr lang="en-US" dirty="0"/>
          </a:p>
        </p:txBody>
      </p:sp>
    </p:spTree>
    <p:extLst>
      <p:ext uri="{BB962C8B-B14F-4D97-AF65-F5344CB8AC3E}">
        <p14:creationId xmlns:p14="http://schemas.microsoft.com/office/powerpoint/2010/main" val="3295441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A1797-C394-4F90-B76D-7015A74A32E0}"/>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5400"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Muslims contribution towards knowledge</a:t>
            </a:r>
            <a:endParaRPr lang="en-US" sz="2700" dirty="0"/>
          </a:p>
        </p:txBody>
      </p:sp>
      <p:sp>
        <p:nvSpPr>
          <p:cNvPr id="3" name="Content Placeholder 2">
            <a:extLst>
              <a:ext uri="{FF2B5EF4-FFF2-40B4-BE49-F238E27FC236}">
                <a16:creationId xmlns:a16="http://schemas.microsoft.com/office/drawing/2014/main" id="{EC5226DC-03FC-4BC8-8DBE-73F25025125E}"/>
              </a:ext>
            </a:extLst>
          </p:cNvPr>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Chemistry</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Jabir bin </a:t>
            </a:r>
            <a:r>
              <a:rPr lang="en-US" dirty="0" err="1">
                <a:latin typeface="Times New Roman" panose="02020603050405020304" pitchFamily="18" charset="0"/>
                <a:cs typeface="Times New Roman" panose="02020603050405020304" pitchFamily="18" charset="0"/>
              </a:rPr>
              <a:t>Hayyan</a:t>
            </a:r>
            <a:r>
              <a:rPr lang="en-US" dirty="0">
                <a:latin typeface="Times New Roman" panose="02020603050405020304" pitchFamily="18" charset="0"/>
                <a:cs typeface="Times New Roman" panose="02020603050405020304" pitchFamily="18" charset="0"/>
              </a:rPr>
              <a:t> 8</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century, Abubakar Al-</a:t>
            </a:r>
            <a:r>
              <a:rPr lang="en-US" dirty="0" err="1">
                <a:latin typeface="Times New Roman" panose="02020603050405020304" pitchFamily="18" charset="0"/>
                <a:cs typeface="Times New Roman" panose="02020603050405020304" pitchFamily="18" charset="0"/>
              </a:rPr>
              <a:t>razi</a:t>
            </a:r>
            <a:r>
              <a:rPr lang="en-US" dirty="0">
                <a:latin typeface="Times New Roman" panose="02020603050405020304" pitchFamily="18" charset="0"/>
                <a:cs typeface="Times New Roman" panose="02020603050405020304" pitchFamily="18" charset="0"/>
              </a:rPr>
              <a:t> 9</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century</a:t>
            </a:r>
          </a:p>
          <a:p>
            <a:r>
              <a:rPr lang="en-US" b="1" dirty="0">
                <a:latin typeface="Times New Roman" panose="02020603050405020304" pitchFamily="18" charset="0"/>
                <a:cs typeface="Times New Roman" panose="02020603050405020304" pitchFamily="18" charset="0"/>
              </a:rPr>
              <a:t>Mathematics</a:t>
            </a:r>
          </a:p>
          <a:p>
            <a:pPr marL="0" indent="0">
              <a:buNone/>
            </a:pPr>
            <a:r>
              <a:rPr lang="en-US" dirty="0">
                <a:latin typeface="Times New Roman" panose="02020603050405020304" pitchFamily="18" charset="0"/>
                <a:cs typeface="Times New Roman" panose="02020603050405020304" pitchFamily="18" charset="0"/>
              </a:rPr>
              <a:t>Muhammad bin Musa Al-</a:t>
            </a:r>
            <a:r>
              <a:rPr lang="en-US" dirty="0" err="1">
                <a:latin typeface="Times New Roman" panose="02020603050405020304" pitchFamily="18" charset="0"/>
                <a:cs typeface="Times New Roman" panose="02020603050405020304" pitchFamily="18" charset="0"/>
              </a:rPr>
              <a:t>Khwarzami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Albairooni</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Medicine</a:t>
            </a:r>
            <a:endParaRPr lang="en-US" sz="1900" b="1" dirty="0">
              <a:latin typeface="Times New Roman" panose="02020603050405020304" pitchFamily="18" charset="0"/>
              <a:cs typeface="Times New Roman" panose="02020603050405020304" pitchFamily="18" charset="0"/>
            </a:endParaRPr>
          </a:p>
          <a:p>
            <a:pPr marL="0" indent="0" algn="ctr">
              <a:buNone/>
            </a:pPr>
            <a:r>
              <a:rPr lang="ar-SA" sz="2200" dirty="0">
                <a:latin typeface="Traditional Arabic" panose="02020603050405020304" pitchFamily="18" charset="-78"/>
                <a:cs typeface="Traditional Arabic" panose="02020603050405020304" pitchFamily="18" charset="-78"/>
              </a:rPr>
              <a:t>تَدَاوَوْا فَإِنَّ اللَّهَ عَزَّ وَجَلَّ لَمْ يَضَعْ دَاءً إِلاَّ وَضَعَ لَهُ دَوَاءً غَيْرَ دَاءٍ وَاحِدٍ الْهَرَمُ</a:t>
            </a:r>
            <a:endParaRPr lang="en-US" sz="2200" dirty="0">
              <a:latin typeface="Traditional Arabic" panose="02020603050405020304" pitchFamily="18" charset="-78"/>
              <a:cs typeface="Traditional Arabic" panose="02020603050405020304" pitchFamily="18" charset="-78"/>
            </a:endParaRPr>
          </a:p>
          <a:p>
            <a:pPr marL="0" indent="0" algn="ctr">
              <a:buNone/>
            </a:pPr>
            <a:r>
              <a:rPr lang="en-US" sz="1900" dirty="0">
                <a:latin typeface="Times New Roman" panose="02020603050405020304" pitchFamily="18" charset="0"/>
                <a:cs typeface="Times New Roman" panose="02020603050405020304" pitchFamily="18" charset="0"/>
              </a:rPr>
              <a:t>Make use of medical treatment, for Allah has not made a disease without appointing a remedy for it, with the exception of one disease, namely old age.</a:t>
            </a:r>
          </a:p>
        </p:txBody>
      </p:sp>
    </p:spTree>
    <p:extLst>
      <p:ext uri="{BB962C8B-B14F-4D97-AF65-F5344CB8AC3E}">
        <p14:creationId xmlns:p14="http://schemas.microsoft.com/office/powerpoint/2010/main" val="3553427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47DFD-9CDC-487A-B1D9-1D0F64BE345C}"/>
              </a:ext>
            </a:extLst>
          </p:cNvPr>
          <p:cNvSpPr>
            <a:spLocks noGrp="1"/>
          </p:cNvSpPr>
          <p:nvPr>
            <p:ph type="title"/>
          </p:nvPr>
        </p:nvSpPr>
        <p:spPr/>
        <p:txBody>
          <a:bodyPr>
            <a:normAutofit fontScale="90000"/>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6000" dirty="0">
                <a:latin typeface="Jameel Noori Nastaleeq" panose="02000503000000020004" pitchFamily="2" charset="-78"/>
                <a:cs typeface="Jameel Noori Nastaleeq" panose="02000503000000020004" pitchFamily="2" charset="-78"/>
              </a:rPr>
            </a:br>
            <a:r>
              <a:rPr lang="en-US" b="1" dirty="0">
                <a:latin typeface="Times New Roman" panose="02020603050405020304" pitchFamily="18" charset="0"/>
                <a:cs typeface="Times New Roman" panose="02020603050405020304" pitchFamily="18" charset="0"/>
              </a:rPr>
              <a:t>Muslims contribution towards knowledge</a:t>
            </a:r>
            <a:endParaRPr lang="en-US" dirty="0"/>
          </a:p>
        </p:txBody>
      </p:sp>
      <p:sp>
        <p:nvSpPr>
          <p:cNvPr id="3" name="Content Placeholder 2">
            <a:extLst>
              <a:ext uri="{FF2B5EF4-FFF2-40B4-BE49-F238E27FC236}">
                <a16:creationId xmlns:a16="http://schemas.microsoft.com/office/drawing/2014/main" id="{C8BDFEFB-4528-4D6D-87A9-D36C0BC4FEA6}"/>
              </a:ext>
            </a:extLst>
          </p:cNvPr>
          <p:cNvSpPr>
            <a:spLocks noGrp="1"/>
          </p:cNvSpPr>
          <p:nvPr>
            <p:ph idx="1"/>
          </p:nvPr>
        </p:nvSpPr>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Geography</a:t>
            </a:r>
          </a:p>
          <a:p>
            <a:pPr marL="0" indent="0">
              <a:buNone/>
            </a:pPr>
            <a:r>
              <a:rPr lang="en-US" dirty="0">
                <a:latin typeface="Times New Roman" panose="02020603050405020304" pitchFamily="18" charset="0"/>
                <a:cs typeface="Times New Roman" panose="02020603050405020304" pitchFamily="18" charset="0"/>
              </a:rPr>
              <a:t>Al </a:t>
            </a:r>
            <a:r>
              <a:rPr lang="en-US" dirty="0" err="1">
                <a:latin typeface="Times New Roman" panose="02020603050405020304" pitchFamily="18" charset="0"/>
                <a:cs typeface="Times New Roman" panose="02020603050405020304" pitchFamily="18" charset="0"/>
              </a:rPr>
              <a:t>Bairooni</a:t>
            </a:r>
            <a:r>
              <a:rPr lang="en-US" dirty="0">
                <a:latin typeface="Times New Roman" panose="02020603050405020304" pitchFamily="18" charset="0"/>
                <a:cs typeface="Times New Roman" panose="02020603050405020304" pitchFamily="18" charset="0"/>
              </a:rPr>
              <a:t> had found radius of earth. Father of geodesy. </a:t>
            </a:r>
          </a:p>
          <a:p>
            <a:r>
              <a:rPr lang="en-US" b="1" dirty="0">
                <a:latin typeface="Times New Roman" panose="02020603050405020304" pitchFamily="18" charset="0"/>
                <a:cs typeface="Times New Roman" panose="02020603050405020304" pitchFamily="18" charset="0"/>
              </a:rPr>
              <a:t>Physics</a:t>
            </a:r>
          </a:p>
          <a:p>
            <a:pPr marL="0" indent="0">
              <a:buNone/>
            </a:pPr>
            <a:r>
              <a:rPr lang="en-US" dirty="0">
                <a:latin typeface="Times New Roman" panose="02020603050405020304" pitchFamily="18" charset="0"/>
                <a:cs typeface="Times New Roman" panose="02020603050405020304" pitchFamily="18" charset="0"/>
              </a:rPr>
              <a:t>Ibn ul </a:t>
            </a:r>
            <a:r>
              <a:rPr lang="en-US" dirty="0" err="1">
                <a:latin typeface="Times New Roman" panose="02020603050405020304" pitchFamily="18" charset="0"/>
                <a:cs typeface="Times New Roman" panose="02020603050405020304" pitchFamily="18" charset="0"/>
              </a:rPr>
              <a:t>Haysam</a:t>
            </a:r>
            <a:r>
              <a:rPr lang="en-US" dirty="0">
                <a:latin typeface="Times New Roman" panose="02020603050405020304" pitchFamily="18" charset="0"/>
                <a:cs typeface="Times New Roman" panose="02020603050405020304" pitchFamily="18" charset="0"/>
              </a:rPr>
              <a:t> </a:t>
            </a:r>
            <a:r>
              <a:rPr lang="en-US" dirty="0">
                <a:latin typeface="Jameel Noori Nastaleeq" panose="02000503000000020004" pitchFamily="2" charset="-78"/>
                <a:cs typeface="Jameel Noori Nastaleeq" panose="02000503000000020004" pitchFamily="2" charset="-78"/>
              </a:rPr>
              <a:t>(</a:t>
            </a:r>
            <a:r>
              <a:rPr lang="ur-PK" dirty="0">
                <a:latin typeface="Jameel Noori Nastaleeq" panose="02000503000000020004" pitchFamily="2" charset="-78"/>
                <a:cs typeface="Jameel Noori Nastaleeq" panose="02000503000000020004" pitchFamily="2" charset="-78"/>
              </a:rPr>
              <a:t>کتاب المناظر</a:t>
            </a:r>
            <a:r>
              <a:rPr lang="en-US" dirty="0">
                <a:latin typeface="Jameel Noori Nastaleeq" panose="02000503000000020004" pitchFamily="2" charset="-78"/>
                <a:cs typeface="Jameel Noori Nastaleeq" panose="02000503000000020004" pitchFamily="2" charset="-78"/>
              </a:rPr>
              <a:t>)</a:t>
            </a:r>
          </a:p>
          <a:p>
            <a:r>
              <a:rPr lang="en-US" b="1" dirty="0">
                <a:latin typeface="Times New Roman" panose="02020603050405020304" pitchFamily="18" charset="0"/>
                <a:cs typeface="Times New Roman" panose="02020603050405020304" pitchFamily="18" charset="0"/>
              </a:rPr>
              <a:t>Astronomy</a:t>
            </a:r>
          </a:p>
          <a:p>
            <a:pPr marL="0" indent="0">
              <a:buNone/>
            </a:pPr>
            <a:r>
              <a:rPr lang="en-US" dirty="0">
                <a:latin typeface="Times New Roman" panose="02020603050405020304" pitchFamily="18" charset="0"/>
                <a:cs typeface="Times New Roman" panose="02020603050405020304" pitchFamily="18" charset="0"/>
              </a:rPr>
              <a:t>Al </a:t>
            </a:r>
            <a:r>
              <a:rPr lang="en-US" dirty="0" err="1">
                <a:latin typeface="Times New Roman" panose="02020603050405020304" pitchFamily="18" charset="0"/>
                <a:cs typeface="Times New Roman" panose="02020603050405020304" pitchFamily="18" charset="0"/>
              </a:rPr>
              <a:t>Bairuni</a:t>
            </a:r>
            <a:r>
              <a:rPr lang="en-US" dirty="0">
                <a:latin typeface="Times New Roman" panose="02020603050405020304" pitchFamily="18" charset="0"/>
                <a:cs typeface="Times New Roman" panose="02020603050405020304" pitchFamily="18" charset="0"/>
              </a:rPr>
              <a:t>, Ibn e </a:t>
            </a:r>
            <a:r>
              <a:rPr lang="en-US" dirty="0" err="1">
                <a:latin typeface="Times New Roman" panose="02020603050405020304" pitchFamily="18" charset="0"/>
                <a:cs typeface="Times New Roman" panose="02020603050405020304" pitchFamily="18" charset="0"/>
              </a:rPr>
              <a:t>Yunas</a:t>
            </a:r>
            <a:r>
              <a:rPr lang="en-US" dirty="0">
                <a:latin typeface="Times New Roman" panose="02020603050405020304" pitchFamily="18" charset="0"/>
                <a:cs typeface="Times New Roman" panose="02020603050405020304" pitchFamily="18" charset="0"/>
              </a:rPr>
              <a:t>, Abul </a:t>
            </a:r>
            <a:r>
              <a:rPr lang="en-US" dirty="0" err="1">
                <a:latin typeface="Times New Roman" panose="02020603050405020304" pitchFamily="18" charset="0"/>
                <a:cs typeface="Times New Roman" panose="02020603050405020304" pitchFamily="18" charset="0"/>
              </a:rPr>
              <a:t>Wafa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Agricultural</a:t>
            </a:r>
          </a:p>
          <a:p>
            <a:pPr marL="0" indent="0">
              <a:buNone/>
            </a:pPr>
            <a:r>
              <a:rPr lang="en-US" dirty="0">
                <a:latin typeface="Times New Roman" panose="02020603050405020304" pitchFamily="18" charset="0"/>
                <a:cs typeface="Times New Roman" panose="02020603050405020304" pitchFamily="18" charset="0"/>
              </a:rPr>
              <a:t>Al </a:t>
            </a:r>
            <a:r>
              <a:rPr lang="en-US" dirty="0" err="1">
                <a:latin typeface="Times New Roman" panose="02020603050405020304" pitchFamily="18" charset="0"/>
                <a:cs typeface="Times New Roman" panose="02020603050405020304" pitchFamily="18" charset="0"/>
              </a:rPr>
              <a:t>Awwam</a:t>
            </a:r>
            <a:r>
              <a:rPr lang="en-US" dirty="0">
                <a:latin typeface="Times New Roman" panose="02020603050405020304" pitchFamily="18" charset="0"/>
                <a:cs typeface="Times New Roman" panose="02020603050405020304" pitchFamily="18" charset="0"/>
              </a:rPr>
              <a:t>, Abul </a:t>
            </a:r>
            <a:r>
              <a:rPr lang="en-US" dirty="0" err="1">
                <a:latin typeface="Times New Roman" panose="02020603050405020304" pitchFamily="18" charset="0"/>
                <a:cs typeface="Times New Roman" panose="02020603050405020304" pitchFamily="18" charset="0"/>
              </a:rPr>
              <a:t>Abbass</a:t>
            </a:r>
            <a:endParaRPr lang="ur-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577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1394B-DC80-489D-9B1C-961A9ED64594}"/>
              </a:ext>
            </a:extLst>
          </p:cNvPr>
          <p:cNvSpPr>
            <a:spLocks noGrp="1"/>
          </p:cNvSpPr>
          <p:nvPr>
            <p:ph type="title"/>
          </p:nvPr>
        </p:nvSpPr>
        <p:spPr/>
        <p:txBody>
          <a:bodyPr>
            <a:normAutofit fontScale="90000"/>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ur-PK" sz="6000" dirty="0">
                <a:latin typeface="Jameel Noori Nastaleeq" panose="02000503000000020004" pitchFamily="2" charset="-78"/>
                <a:cs typeface="Jameel Noori Nastaleeq" panose="02000503000000020004" pitchFamily="2" charset="-78"/>
              </a:rPr>
            </a:br>
            <a:r>
              <a:rPr lang="en-US" b="1" dirty="0">
                <a:latin typeface="Times New Roman" panose="02020603050405020304" pitchFamily="18" charset="0"/>
                <a:cs typeface="Times New Roman" panose="02020603050405020304" pitchFamily="18" charset="0"/>
              </a:rPr>
              <a:t>Muslims contribution towards knowledge</a:t>
            </a:r>
            <a:endParaRPr lang="en-US" dirty="0"/>
          </a:p>
        </p:txBody>
      </p:sp>
      <p:sp>
        <p:nvSpPr>
          <p:cNvPr id="3" name="Content Placeholder 2">
            <a:extLst>
              <a:ext uri="{FF2B5EF4-FFF2-40B4-BE49-F238E27FC236}">
                <a16:creationId xmlns:a16="http://schemas.microsoft.com/office/drawing/2014/main" id="{FF40E8AF-B6AE-4BA1-9BFF-47CDA860ACF8}"/>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Industry</a:t>
            </a:r>
          </a:p>
          <a:p>
            <a:pPr marL="0" indent="0">
              <a:buNone/>
            </a:pPr>
            <a:r>
              <a:rPr lang="en-US" dirty="0">
                <a:latin typeface="Times New Roman" panose="02020603050405020304" pitchFamily="18" charset="0"/>
                <a:cs typeface="Times New Roman" panose="02020603050405020304" pitchFamily="18" charset="0"/>
              </a:rPr>
              <a:t>Advancement in the manufacture of fabrics silk, cotton, wool, leather, glass and steel. Paper making factory in Baghdad in 794.</a:t>
            </a:r>
          </a:p>
          <a:p>
            <a:r>
              <a:rPr lang="en-US" b="1" dirty="0">
                <a:latin typeface="Times New Roman" panose="02020603050405020304" pitchFamily="18" charset="0"/>
                <a:cs typeface="Times New Roman" panose="02020603050405020304" pitchFamily="18" charset="0"/>
              </a:rPr>
              <a:t>Commerce</a:t>
            </a:r>
          </a:p>
          <a:p>
            <a:r>
              <a:rPr lang="en-US" b="1" dirty="0">
                <a:latin typeface="Times New Roman" panose="02020603050405020304" pitchFamily="18" charset="0"/>
                <a:cs typeface="Times New Roman" panose="02020603050405020304" pitchFamily="18" charset="0"/>
              </a:rPr>
              <a:t>History</a:t>
            </a:r>
          </a:p>
          <a:p>
            <a:pPr marL="0" indent="0">
              <a:buNone/>
            </a:pPr>
            <a:r>
              <a:rPr lang="en-US" dirty="0">
                <a:latin typeface="Times New Roman" panose="02020603050405020304" pitchFamily="18" charset="0"/>
                <a:cs typeface="Times New Roman" panose="02020603050405020304" pitchFamily="18" charset="0"/>
              </a:rPr>
              <a:t>Al Tabari, Al </a:t>
            </a:r>
            <a:r>
              <a:rPr lang="en-US" dirty="0" err="1">
                <a:latin typeface="Times New Roman" panose="02020603050405020304" pitchFamily="18" charset="0"/>
                <a:cs typeface="Times New Roman" panose="02020603050405020304" pitchFamily="18" charset="0"/>
              </a:rPr>
              <a:t>Masoodi</a:t>
            </a:r>
            <a:r>
              <a:rPr lang="en-US" dirty="0">
                <a:latin typeface="Times New Roman" panose="02020603050405020304" pitchFamily="18" charset="0"/>
                <a:cs typeface="Times New Roman" panose="02020603050405020304" pitchFamily="18" charset="0"/>
              </a:rPr>
              <a:t>, Ibn e </a:t>
            </a:r>
            <a:r>
              <a:rPr lang="en-US" dirty="0" err="1">
                <a:latin typeface="Times New Roman" panose="02020603050405020304" pitchFamily="18" charset="0"/>
                <a:cs typeface="Times New Roman" panose="02020603050405020304" pitchFamily="18" charset="0"/>
              </a:rPr>
              <a:t>Khuldoon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Art and Architecture</a:t>
            </a:r>
          </a:p>
          <a:p>
            <a:endParaRPr lang="en-US" dirty="0"/>
          </a:p>
        </p:txBody>
      </p:sp>
    </p:spTree>
    <p:extLst>
      <p:ext uri="{BB962C8B-B14F-4D97-AF65-F5344CB8AC3E}">
        <p14:creationId xmlns:p14="http://schemas.microsoft.com/office/powerpoint/2010/main" val="2189330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5308D-CEBB-4D52-8001-2E95457CA00B}"/>
              </a:ext>
            </a:extLst>
          </p:cNvPr>
          <p:cNvSpPr>
            <a:spLocks noGrp="1"/>
          </p:cNvSpPr>
          <p:nvPr>
            <p:ph type="title"/>
          </p:nvPr>
        </p:nvSpPr>
        <p:spPr/>
        <p:txBody>
          <a:bodyPr>
            <a:normAutofit fontScale="90000"/>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en-US"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Social and Moral influence of Islamic Civilization</a:t>
            </a:r>
            <a:br>
              <a:rPr lang="en-US" dirty="0"/>
            </a:br>
            <a:endParaRPr lang="en-US" dirty="0"/>
          </a:p>
        </p:txBody>
      </p:sp>
      <p:sp>
        <p:nvSpPr>
          <p:cNvPr id="3" name="Content Placeholder 2">
            <a:extLst>
              <a:ext uri="{FF2B5EF4-FFF2-40B4-BE49-F238E27FC236}">
                <a16:creationId xmlns:a16="http://schemas.microsoft.com/office/drawing/2014/main" id="{278958E9-59CA-4F48-8C00-363C27CB0245}"/>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Equality of Human beings</a:t>
            </a:r>
          </a:p>
          <a:p>
            <a:pPr marL="0" indent="0" algn="ctr">
              <a:buNone/>
            </a:pPr>
            <a:r>
              <a:rPr lang="ur-PK" b="1" dirty="0">
                <a:latin typeface="Traditional Arabic" panose="02020603050405020304" pitchFamily="18" charset="-78"/>
                <a:cs typeface="Traditional Arabic" panose="02020603050405020304" pitchFamily="18" charset="-78"/>
              </a:rPr>
              <a:t>انا خلقناکم من نفس واحدۃ</a:t>
            </a:r>
            <a:endParaRPr lang="en-US" b="1"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We created you from a single pair</a:t>
            </a:r>
          </a:p>
          <a:p>
            <a:pPr marL="0" indent="0" algn="ctr">
              <a:buNone/>
            </a:pPr>
            <a:r>
              <a:rPr lang="en-US" dirty="0">
                <a:latin typeface="Times New Roman" panose="02020603050405020304" pitchFamily="18" charset="0"/>
                <a:cs typeface="Times New Roman" panose="02020603050405020304" pitchFamily="18" charset="0"/>
              </a:rPr>
              <a:t>of a male and a female</a:t>
            </a:r>
          </a:p>
          <a:p>
            <a:r>
              <a:rPr lang="en-US" b="1" dirty="0">
                <a:latin typeface="Times New Roman" panose="02020603050405020304" pitchFamily="18" charset="0"/>
                <a:cs typeface="Times New Roman" panose="02020603050405020304" pitchFamily="18" charset="0"/>
              </a:rPr>
              <a:t>Justice</a:t>
            </a:r>
          </a:p>
          <a:p>
            <a:pPr marL="0" indent="0" algn="ctr">
              <a:buNone/>
            </a:pPr>
            <a:r>
              <a:rPr lang="ur-PK" b="1" dirty="0">
                <a:latin typeface="Traditional Arabic" panose="02020603050405020304" pitchFamily="18" charset="-78"/>
                <a:cs typeface="Traditional Arabic" panose="02020603050405020304" pitchFamily="18" charset="-78"/>
              </a:rPr>
              <a:t>اعدلوا ھو اقرب للتقویٰ</a:t>
            </a:r>
            <a:endParaRPr lang="en-US" b="1"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Be just: that is nearer to piety</a:t>
            </a:r>
          </a:p>
        </p:txBody>
      </p:sp>
    </p:spTree>
    <p:extLst>
      <p:ext uri="{BB962C8B-B14F-4D97-AF65-F5344CB8AC3E}">
        <p14:creationId xmlns:p14="http://schemas.microsoft.com/office/powerpoint/2010/main" val="3323209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AE161-FE76-4DD8-9E68-90DB66F6292A}"/>
              </a:ext>
            </a:extLst>
          </p:cNvPr>
          <p:cNvSpPr>
            <a:spLocks noGrp="1"/>
          </p:cNvSpPr>
          <p:nvPr>
            <p:ph type="title"/>
          </p:nvPr>
        </p:nvSpPr>
        <p:spPr>
          <a:xfrm>
            <a:off x="1451579" y="867037"/>
            <a:ext cx="9603275" cy="104923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en-US"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Social and Moral influence of Islamic Civilization</a:t>
            </a:r>
            <a:br>
              <a:rPr lang="en-US" dirty="0"/>
            </a:br>
            <a:endParaRPr lang="en-US" dirty="0"/>
          </a:p>
        </p:txBody>
      </p:sp>
      <p:sp>
        <p:nvSpPr>
          <p:cNvPr id="3" name="Content Placeholder 2">
            <a:extLst>
              <a:ext uri="{FF2B5EF4-FFF2-40B4-BE49-F238E27FC236}">
                <a16:creationId xmlns:a16="http://schemas.microsoft.com/office/drawing/2014/main" id="{7EB3D3BF-35A8-48E6-95EC-E18EEDABE9F4}"/>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Human Dignity</a:t>
            </a:r>
          </a:p>
          <a:p>
            <a:pPr marL="0" indent="0" algn="ctr">
              <a:buNone/>
            </a:pPr>
            <a:r>
              <a:rPr lang="ar-SA" sz="2200" dirty="0">
                <a:latin typeface="Traditional Arabic" panose="02020603050405020304" pitchFamily="18" charset="-78"/>
                <a:cs typeface="Traditional Arabic" panose="02020603050405020304" pitchFamily="18" charset="-78"/>
              </a:rPr>
              <a:t>وَلَقَدْ كَرَّمْنَا بَنِىٓ ءَادَمَ</a:t>
            </a:r>
            <a:endParaRPr lang="en-US" sz="2200"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Indeed, We have dignified the children of Adam</a:t>
            </a:r>
          </a:p>
          <a:p>
            <a:r>
              <a:rPr lang="en-US" b="1" dirty="0">
                <a:latin typeface="Times New Roman" panose="02020603050405020304" pitchFamily="18" charset="0"/>
                <a:cs typeface="Times New Roman" panose="02020603050405020304" pitchFamily="18" charset="0"/>
              </a:rPr>
              <a:t>Abolition of Slavery</a:t>
            </a:r>
          </a:p>
          <a:p>
            <a:pPr marL="0" indent="0" algn="ctr">
              <a:buNone/>
            </a:pPr>
            <a:r>
              <a:rPr lang="ar-SA" sz="2200" dirty="0"/>
              <a:t>إ</a:t>
            </a:r>
            <a:r>
              <a:rPr lang="ar-SA" sz="2200" dirty="0">
                <a:latin typeface="Traditional Arabic" panose="02020603050405020304" pitchFamily="18" charset="-78"/>
                <a:cs typeface="Traditional Arabic" panose="02020603050405020304" pitchFamily="18" charset="-78"/>
              </a:rPr>
              <a:t>نَّ أَكْرَمَكُمْ عِندَ ٱللَّهِ أَتْقَىٰكُمْ</a:t>
            </a:r>
            <a:endParaRPr lang="en-US" sz="2200"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Surely the most noble of you in the sight of Allah is the most righteous among you</a:t>
            </a:r>
          </a:p>
          <a:p>
            <a:pPr marL="0" indent="0">
              <a:buNone/>
            </a:pPr>
            <a:endParaRPr lang="en-US" dirty="0"/>
          </a:p>
        </p:txBody>
      </p:sp>
    </p:spTree>
    <p:extLst>
      <p:ext uri="{BB962C8B-B14F-4D97-AF65-F5344CB8AC3E}">
        <p14:creationId xmlns:p14="http://schemas.microsoft.com/office/powerpoint/2010/main" val="945292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6560F-CE36-443D-83BA-A1022AF717C3}"/>
              </a:ext>
            </a:extLst>
          </p:cNvPr>
          <p:cNvSpPr>
            <a:spLocks noGrp="1"/>
          </p:cNvSpPr>
          <p:nvPr>
            <p:ph type="title"/>
          </p:nvPr>
        </p:nvSpPr>
        <p:spPr/>
        <p:txBody>
          <a:bodyPr>
            <a:normAutofit fontScale="90000"/>
          </a:bodyPr>
          <a:lstStyle/>
          <a:p>
            <a:pPr algn="ctr"/>
            <a:r>
              <a:rPr lang="en-US" dirty="0">
                <a:latin typeface="Times New Roman" panose="02020603050405020304" pitchFamily="18" charset="0"/>
                <a:cs typeface="Times New Roman" panose="02020603050405020304" pitchFamily="18" charset="0"/>
              </a:rPr>
              <a:t>ISLAMIC CIVILIZATION </a:t>
            </a:r>
            <a:r>
              <a:rPr lang="ur-PK" dirty="0">
                <a:latin typeface="Jameel Noori Nastaleeq" panose="02000503000000020004" pitchFamily="2" charset="-78"/>
                <a:cs typeface="Jameel Noori Nastaleeq" panose="02000503000000020004" pitchFamily="2" charset="-78"/>
              </a:rPr>
              <a:t>(اسلامی تہذیب)</a:t>
            </a:r>
            <a:br>
              <a:rPr lang="en-US" dirty="0">
                <a:latin typeface="Jameel Noori Nastaleeq" panose="02000503000000020004" pitchFamily="2" charset="-78"/>
                <a:cs typeface="Jameel Noori Nastaleeq" panose="02000503000000020004" pitchFamily="2" charset="-78"/>
              </a:rPr>
            </a:br>
            <a:r>
              <a:rPr lang="en-US" sz="2700" b="1" dirty="0">
                <a:latin typeface="Times New Roman" panose="02020603050405020304" pitchFamily="18" charset="0"/>
                <a:cs typeface="Times New Roman" panose="02020603050405020304" pitchFamily="18" charset="0"/>
              </a:rPr>
              <a:t>Social and Moral influence of Islamic Civilization</a:t>
            </a:r>
            <a:br>
              <a:rPr lang="en-US" dirty="0"/>
            </a:br>
            <a:endParaRPr lang="en-US" dirty="0"/>
          </a:p>
        </p:txBody>
      </p:sp>
      <p:sp>
        <p:nvSpPr>
          <p:cNvPr id="3" name="Content Placeholder 2">
            <a:extLst>
              <a:ext uri="{FF2B5EF4-FFF2-40B4-BE49-F238E27FC236}">
                <a16:creationId xmlns:a16="http://schemas.microsoft.com/office/drawing/2014/main" id="{7B5E1758-79F5-449A-84A4-DDF55CCAF3C9}"/>
              </a:ext>
            </a:extLst>
          </p:cNvPr>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Social Status of Women</a:t>
            </a:r>
          </a:p>
          <a:p>
            <a:r>
              <a:rPr lang="en-US" b="1" dirty="0">
                <a:latin typeface="Times New Roman" panose="02020603050405020304" pitchFamily="18" charset="0"/>
                <a:cs typeface="Times New Roman" panose="02020603050405020304" pitchFamily="18" charset="0"/>
              </a:rPr>
              <a:t>The dignity of workers</a:t>
            </a:r>
          </a:p>
          <a:p>
            <a:pPr marL="0" indent="0" algn="ctr">
              <a:buNone/>
            </a:pPr>
            <a:r>
              <a:rPr lang="ar-SA" dirty="0">
                <a:latin typeface="Traditional Arabic" panose="02020603050405020304" pitchFamily="18" charset="-78"/>
                <a:cs typeface="Traditional Arabic" panose="02020603050405020304" pitchFamily="18" charset="-78"/>
              </a:rPr>
              <a:t>أَعْطُوا الأَجِيرَ أَجْرَهُ قَبْلَ أَنْ يَجِفَّ عَرَقُهُ</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Give the worker his wages before his sweat dries.</a:t>
            </a:r>
          </a:p>
          <a:p>
            <a:r>
              <a:rPr lang="en-US" b="1" dirty="0">
                <a:latin typeface="Times New Roman" panose="02020603050405020304" pitchFamily="18" charset="0"/>
                <a:cs typeface="Times New Roman" panose="02020603050405020304" pitchFamily="18" charset="0"/>
              </a:rPr>
              <a:t>Every moment of life is in transition</a:t>
            </a:r>
          </a:p>
          <a:p>
            <a:pPr marL="0" indent="0" algn="ctr">
              <a:buNone/>
            </a:pPr>
            <a:r>
              <a:rPr lang="ar-SA" dirty="0">
                <a:latin typeface="Traditional Arabic" panose="02020603050405020304" pitchFamily="18" charset="-78"/>
                <a:cs typeface="Traditional Arabic" panose="02020603050405020304" pitchFamily="18" charset="-78"/>
              </a:rPr>
              <a:t>كُلُّ مَنْ عَلَيْهَا فَانٍۢ</a:t>
            </a:r>
            <a:r>
              <a:rPr lang="ur-PK" dirty="0">
                <a:latin typeface="Traditional Arabic" panose="02020603050405020304" pitchFamily="18" charset="-78"/>
                <a:cs typeface="Traditional Arabic" panose="02020603050405020304" pitchFamily="18" charset="-78"/>
              </a:rPr>
              <a:t> </a:t>
            </a:r>
            <a:r>
              <a:rPr lang="ar-SA" dirty="0">
                <a:latin typeface="Traditional Arabic" panose="02020603050405020304" pitchFamily="18" charset="-78"/>
                <a:cs typeface="Traditional Arabic" panose="02020603050405020304" pitchFamily="18" charset="-78"/>
              </a:rPr>
              <a:t>وَيَبْقَىٰ وَجْهُ رَبِّكَ ذُو ٱلْجَلَـٰلِ وَٱلْإِكْرَامِ</a:t>
            </a:r>
            <a:endParaRPr lang="ur-PK" dirty="0">
              <a:latin typeface="Traditional Arabic" panose="02020603050405020304" pitchFamily="18" charset="-78"/>
              <a:cs typeface="Traditional Arabic" panose="02020603050405020304" pitchFamily="18" charset="-78"/>
            </a:endParaRPr>
          </a:p>
          <a:p>
            <a:pPr marL="0" indent="0" algn="ctr">
              <a:buNone/>
            </a:pPr>
            <a:r>
              <a:rPr lang="en-US" dirty="0">
                <a:latin typeface="Times New Roman" panose="02020603050405020304" pitchFamily="18" charset="0"/>
                <a:cs typeface="Times New Roman" panose="02020603050405020304" pitchFamily="18" charset="0"/>
              </a:rPr>
              <a:t>Every being on earth is bound to perish. Only your Lord Himself,</a:t>
            </a:r>
            <a:r>
              <a:rPr lang="en-US" baseline="30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full of Majesty and </a:t>
            </a:r>
            <a:r>
              <a:rPr lang="en-US" dirty="0" err="1">
                <a:latin typeface="Times New Roman" panose="02020603050405020304" pitchFamily="18" charset="0"/>
                <a:cs typeface="Times New Roman" panose="02020603050405020304" pitchFamily="18" charset="0"/>
              </a:rPr>
              <a:t>Honour</a:t>
            </a:r>
            <a:r>
              <a:rPr lang="en-US" dirty="0">
                <a:latin typeface="Times New Roman" panose="02020603050405020304" pitchFamily="18" charset="0"/>
                <a:cs typeface="Times New Roman" panose="02020603050405020304" pitchFamily="18" charset="0"/>
              </a:rPr>
              <a:t>, will remain forever.</a:t>
            </a:r>
          </a:p>
        </p:txBody>
      </p:sp>
    </p:spTree>
    <p:extLst>
      <p:ext uri="{BB962C8B-B14F-4D97-AF65-F5344CB8AC3E}">
        <p14:creationId xmlns:p14="http://schemas.microsoft.com/office/powerpoint/2010/main" val="1382750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A427-D6DD-4743-B560-FBEAC9E0AA90}"/>
              </a:ext>
            </a:extLst>
          </p:cNvPr>
          <p:cNvSpPr>
            <a:spLocks noGrp="1"/>
          </p:cNvSpPr>
          <p:nvPr>
            <p:ph type="title"/>
          </p:nvPr>
        </p:nvSpPr>
        <p:spPr/>
        <p:txBody>
          <a:bodyPr/>
          <a:lstStyle/>
          <a:p>
            <a:pPr algn="ctr"/>
            <a:r>
              <a:rPr lang="en-US" b="1" dirty="0">
                <a:latin typeface="Times New Roman" panose="02020603050405020304" pitchFamily="18" charset="0"/>
              </a:rPr>
              <a:t>ISLAMIC CIVILIZATION </a:t>
            </a:r>
            <a:r>
              <a:rPr lang="ur-PK" b="1" dirty="0">
                <a:latin typeface="Jameel Noori Nastaleeq" panose="02000503000000020004" pitchFamily="2" charset="-78"/>
                <a:cs typeface="Jameel Noori Nastaleeq" panose="02000503000000020004" pitchFamily="2" charset="-78"/>
              </a:rPr>
              <a:t>(اسلامی تہذیب)</a:t>
            </a:r>
            <a:br>
              <a:rPr lang="en-US" b="1" dirty="0">
                <a:latin typeface="Jameel Noori Nastaleeq" panose="02000503000000020004" pitchFamily="2" charset="-78"/>
                <a:cs typeface="Jameel Noori Nastaleeq" panose="02000503000000020004" pitchFamily="2" charset="-78"/>
              </a:rPr>
            </a:br>
            <a:r>
              <a:rPr lang="en-US" b="1" dirty="0">
                <a:latin typeface="Jameel Noori Nastaleeq" panose="02000503000000020004" pitchFamily="2" charset="-78"/>
              </a:rPr>
              <a:t>Contemporary clash of civilizations</a:t>
            </a:r>
            <a:endParaRPr lang="en-US" dirty="0"/>
          </a:p>
        </p:txBody>
      </p:sp>
      <p:sp>
        <p:nvSpPr>
          <p:cNvPr id="3" name="Text Placeholder 2">
            <a:extLst>
              <a:ext uri="{FF2B5EF4-FFF2-40B4-BE49-F238E27FC236}">
                <a16:creationId xmlns:a16="http://schemas.microsoft.com/office/drawing/2014/main" id="{2AF0A8DC-3812-41D8-A5F4-0E8D5E7E432A}"/>
              </a:ext>
            </a:extLst>
          </p:cNvPr>
          <p:cNvSpPr>
            <a:spLocks noGrp="1"/>
          </p:cNvSpPr>
          <p:nvPr>
            <p:ph type="body" idx="1"/>
          </p:nvPr>
        </p:nvSpPr>
        <p:spPr>
          <a:xfrm>
            <a:off x="1447191" y="2019550"/>
            <a:ext cx="4645152" cy="524868"/>
          </a:xfrm>
        </p:spPr>
        <p:txBody>
          <a:bodyPr/>
          <a:lstStyle/>
          <a:p>
            <a:pPr algn="ctr"/>
            <a:r>
              <a:rPr lang="en-US" dirty="0">
                <a:latin typeface="Times New Roman" panose="02020603050405020304" pitchFamily="18" charset="0"/>
                <a:cs typeface="Times New Roman" panose="02020603050405020304" pitchFamily="18" charset="0"/>
              </a:rPr>
              <a:t>Islamic civilization</a:t>
            </a:r>
          </a:p>
        </p:txBody>
      </p:sp>
      <p:sp>
        <p:nvSpPr>
          <p:cNvPr id="4" name="Content Placeholder 3">
            <a:extLst>
              <a:ext uri="{FF2B5EF4-FFF2-40B4-BE49-F238E27FC236}">
                <a16:creationId xmlns:a16="http://schemas.microsoft.com/office/drawing/2014/main" id="{0F4F05D6-989F-4AA0-9D25-37794D5A3CE0}"/>
              </a:ext>
            </a:extLst>
          </p:cNvPr>
          <p:cNvSpPr>
            <a:spLocks noGrp="1"/>
          </p:cNvSpPr>
          <p:nvPr>
            <p:ph sz="half" idx="2"/>
          </p:nvPr>
        </p:nvSpPr>
        <p:spPr>
          <a:xfrm>
            <a:off x="1447191" y="2703487"/>
            <a:ext cx="4645152" cy="2765240"/>
          </a:xfrm>
        </p:spPr>
        <p:txBody>
          <a:bodyPr/>
          <a:lstStyle/>
          <a:p>
            <a:r>
              <a:rPr lang="en-US" dirty="0">
                <a:latin typeface="Times New Roman" panose="02020603050405020304" pitchFamily="18" charset="0"/>
                <a:cs typeface="Times New Roman" panose="02020603050405020304" pitchFamily="18" charset="0"/>
              </a:rPr>
              <a:t>Based on Islamic faith</a:t>
            </a:r>
          </a:p>
          <a:p>
            <a:r>
              <a:rPr lang="en-US" dirty="0">
                <a:latin typeface="Times New Roman" panose="02020603050405020304" pitchFamily="18" charset="0"/>
                <a:cs typeface="Times New Roman" panose="02020603050405020304" pitchFamily="18" charset="0"/>
              </a:rPr>
              <a:t>Universal dimension</a:t>
            </a:r>
          </a:p>
          <a:p>
            <a:r>
              <a:rPr lang="en-US" dirty="0">
                <a:latin typeface="Times New Roman" panose="02020603050405020304" pitchFamily="18" charset="0"/>
                <a:cs typeface="Times New Roman" panose="02020603050405020304" pitchFamily="18" charset="0"/>
              </a:rPr>
              <a:t>Generous civilization experienced by the peoples of the ancient world. Its output benefited humanity at large, regardless of race and color</a:t>
            </a:r>
          </a:p>
        </p:txBody>
      </p:sp>
      <p:sp>
        <p:nvSpPr>
          <p:cNvPr id="5" name="Text Placeholder 4">
            <a:extLst>
              <a:ext uri="{FF2B5EF4-FFF2-40B4-BE49-F238E27FC236}">
                <a16:creationId xmlns:a16="http://schemas.microsoft.com/office/drawing/2014/main" id="{1091B363-B2D1-40A4-B130-2C3B2634B2FF}"/>
              </a:ext>
            </a:extLst>
          </p:cNvPr>
          <p:cNvSpPr>
            <a:spLocks noGrp="1"/>
          </p:cNvSpPr>
          <p:nvPr>
            <p:ph type="body" sz="quarter" idx="3"/>
          </p:nvPr>
        </p:nvSpPr>
        <p:spPr>
          <a:xfrm>
            <a:off x="6412362" y="2023003"/>
            <a:ext cx="4645152" cy="521415"/>
          </a:xfrm>
        </p:spPr>
        <p:txBody>
          <a:bodyPr/>
          <a:lstStyle/>
          <a:p>
            <a:pPr algn="ctr"/>
            <a:r>
              <a:rPr lang="en-US" dirty="0"/>
              <a:t>Western civilization</a:t>
            </a:r>
          </a:p>
        </p:txBody>
      </p:sp>
      <p:sp>
        <p:nvSpPr>
          <p:cNvPr id="6" name="Content Placeholder 5">
            <a:extLst>
              <a:ext uri="{FF2B5EF4-FFF2-40B4-BE49-F238E27FC236}">
                <a16:creationId xmlns:a16="http://schemas.microsoft.com/office/drawing/2014/main" id="{728981E7-B325-453E-8427-CBCB9A5DAEA6}"/>
              </a:ext>
            </a:extLst>
          </p:cNvPr>
          <p:cNvSpPr>
            <a:spLocks noGrp="1"/>
          </p:cNvSpPr>
          <p:nvPr>
            <p:ph sz="quarter" idx="4"/>
          </p:nvPr>
        </p:nvSpPr>
        <p:spPr>
          <a:xfrm>
            <a:off x="6412362" y="2703487"/>
            <a:ext cx="4645152" cy="2755375"/>
          </a:xfrm>
        </p:spPr>
        <p:txBody>
          <a:bodyPr/>
          <a:lstStyle/>
          <a:p>
            <a:r>
              <a:rPr lang="en-US" dirty="0">
                <a:latin typeface="Times New Roman" panose="02020603050405020304" pitchFamily="18" charset="0"/>
                <a:cs typeface="Times New Roman" panose="02020603050405020304" pitchFamily="18" charset="0"/>
              </a:rPr>
              <a:t>Based on </a:t>
            </a:r>
            <a:r>
              <a:rPr lang="en-US" dirty="0" err="1">
                <a:latin typeface="Times New Roman" panose="02020603050405020304" pitchFamily="18" charset="0"/>
                <a:cs typeface="Times New Roman" panose="02020603050405020304" pitchFamily="18" charset="0"/>
              </a:rPr>
              <a:t>ethiesism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Cares only for European</a:t>
            </a:r>
          </a:p>
          <a:p>
            <a:r>
              <a:rPr lang="en-US" dirty="0">
                <a:latin typeface="Times New Roman" panose="02020603050405020304" pitchFamily="18" charset="0"/>
                <a:cs typeface="Times New Roman" panose="02020603050405020304" pitchFamily="18" charset="0"/>
              </a:rPr>
              <a:t>Prejudice and biased relation with other communities </a:t>
            </a:r>
          </a:p>
        </p:txBody>
      </p:sp>
    </p:spTree>
    <p:extLst>
      <p:ext uri="{BB962C8B-B14F-4D97-AF65-F5344CB8AC3E}">
        <p14:creationId xmlns:p14="http://schemas.microsoft.com/office/powerpoint/2010/main" val="2983579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BA975-D41F-43CF-B9CC-4F14D082B256}"/>
              </a:ext>
            </a:extLst>
          </p:cNvPr>
          <p:cNvSpPr>
            <a:spLocks noGrp="1"/>
          </p:cNvSpPr>
          <p:nvPr>
            <p:ph type="title"/>
          </p:nvPr>
        </p:nvSpPr>
        <p:spPr/>
        <p:txBody>
          <a:bodyPr/>
          <a:lstStyle/>
          <a:p>
            <a:pPr algn="ctr"/>
            <a:r>
              <a:rPr lang="en-US" b="1" dirty="0">
                <a:latin typeface="Times New Roman" panose="02020603050405020304" pitchFamily="18" charset="0"/>
              </a:rPr>
              <a:t>ISLAMIC CIVILIZATION </a:t>
            </a:r>
            <a:r>
              <a:rPr lang="ur-PK" b="1" dirty="0">
                <a:latin typeface="Jameel Noori Nastaleeq" panose="02000503000000020004" pitchFamily="2" charset="-78"/>
                <a:cs typeface="Jameel Noori Nastaleeq" panose="02000503000000020004" pitchFamily="2" charset="-78"/>
              </a:rPr>
              <a:t>(اسلامی تہذیب)</a:t>
            </a:r>
            <a:br>
              <a:rPr lang="en-US" b="1" dirty="0">
                <a:latin typeface="Jameel Noori Nastaleeq" panose="02000503000000020004" pitchFamily="2" charset="-78"/>
              </a:rPr>
            </a:br>
            <a:r>
              <a:rPr lang="en-US" b="1" dirty="0">
                <a:latin typeface="Jameel Noori Nastaleeq" panose="02000503000000020004" pitchFamily="2" charset="-78"/>
              </a:rPr>
              <a:t>Contemporary clash of civilizations</a:t>
            </a:r>
            <a:endParaRPr lang="en-US" dirty="0"/>
          </a:p>
        </p:txBody>
      </p:sp>
      <p:sp>
        <p:nvSpPr>
          <p:cNvPr id="3" name="Text Placeholder 2">
            <a:extLst>
              <a:ext uri="{FF2B5EF4-FFF2-40B4-BE49-F238E27FC236}">
                <a16:creationId xmlns:a16="http://schemas.microsoft.com/office/drawing/2014/main" id="{08E84CD9-CA47-421A-8970-9AF78983CA2D}"/>
              </a:ext>
            </a:extLst>
          </p:cNvPr>
          <p:cNvSpPr>
            <a:spLocks noGrp="1"/>
          </p:cNvSpPr>
          <p:nvPr>
            <p:ph type="body" idx="1"/>
          </p:nvPr>
        </p:nvSpPr>
        <p:spPr>
          <a:xfrm>
            <a:off x="1447191" y="2019549"/>
            <a:ext cx="4645152" cy="521415"/>
          </a:xfrm>
        </p:spPr>
        <p:txBody>
          <a:bodyPr/>
          <a:lstStyle/>
          <a:p>
            <a:pPr algn="ctr"/>
            <a:r>
              <a:rPr lang="en-US" dirty="0">
                <a:latin typeface="Times New Roman" panose="02020603050405020304" pitchFamily="18" charset="0"/>
                <a:cs typeface="Times New Roman" panose="02020603050405020304" pitchFamily="18" charset="0"/>
              </a:rPr>
              <a:t>Islamic civilization</a:t>
            </a:r>
          </a:p>
        </p:txBody>
      </p:sp>
      <p:sp>
        <p:nvSpPr>
          <p:cNvPr id="4" name="Content Placeholder 3">
            <a:extLst>
              <a:ext uri="{FF2B5EF4-FFF2-40B4-BE49-F238E27FC236}">
                <a16:creationId xmlns:a16="http://schemas.microsoft.com/office/drawing/2014/main" id="{7C620A6E-764B-4303-B8F8-7E2126633B23}"/>
              </a:ext>
            </a:extLst>
          </p:cNvPr>
          <p:cNvSpPr>
            <a:spLocks noGrp="1"/>
          </p:cNvSpPr>
          <p:nvPr>
            <p:ph sz="half" idx="2"/>
          </p:nvPr>
        </p:nvSpPr>
        <p:spPr>
          <a:xfrm>
            <a:off x="1447191" y="2554283"/>
            <a:ext cx="4645152" cy="2914443"/>
          </a:xfrm>
        </p:spPr>
        <p:txBody>
          <a:bodyPr/>
          <a:lstStyle/>
          <a:p>
            <a:r>
              <a:rPr lang="en-US" dirty="0">
                <a:latin typeface="Times New Roman" panose="02020603050405020304" pitchFamily="18" charset="0"/>
                <a:cs typeface="Times New Roman" panose="02020603050405020304" pitchFamily="18" charset="0"/>
              </a:rPr>
              <a:t>Fair equilibrium between the materialistic and spiritual sides with exemplary moderation.</a:t>
            </a:r>
          </a:p>
          <a:p>
            <a:r>
              <a:rPr lang="en-US" dirty="0"/>
              <a:t>Human friendly civilization</a:t>
            </a:r>
          </a:p>
        </p:txBody>
      </p:sp>
      <p:sp>
        <p:nvSpPr>
          <p:cNvPr id="5" name="Text Placeholder 4">
            <a:extLst>
              <a:ext uri="{FF2B5EF4-FFF2-40B4-BE49-F238E27FC236}">
                <a16:creationId xmlns:a16="http://schemas.microsoft.com/office/drawing/2014/main" id="{027F79C3-244C-4031-94C1-4F781DA20BEE}"/>
              </a:ext>
            </a:extLst>
          </p:cNvPr>
          <p:cNvSpPr>
            <a:spLocks noGrp="1"/>
          </p:cNvSpPr>
          <p:nvPr>
            <p:ph type="body" sz="quarter" idx="3"/>
          </p:nvPr>
        </p:nvSpPr>
        <p:spPr>
          <a:xfrm>
            <a:off x="6412362" y="2023004"/>
            <a:ext cx="4645152" cy="521414"/>
          </a:xfrm>
        </p:spPr>
        <p:txBody>
          <a:bodyPr/>
          <a:lstStyle/>
          <a:p>
            <a:pPr algn="ctr"/>
            <a:r>
              <a:rPr lang="en-US" dirty="0">
                <a:latin typeface="Times New Roman" panose="02020603050405020304" pitchFamily="18" charset="0"/>
                <a:cs typeface="Times New Roman" panose="02020603050405020304" pitchFamily="18" charset="0"/>
              </a:rPr>
              <a:t>Western civilization</a:t>
            </a:r>
          </a:p>
        </p:txBody>
      </p:sp>
      <p:sp>
        <p:nvSpPr>
          <p:cNvPr id="6" name="Content Placeholder 5">
            <a:extLst>
              <a:ext uri="{FF2B5EF4-FFF2-40B4-BE49-F238E27FC236}">
                <a16:creationId xmlns:a16="http://schemas.microsoft.com/office/drawing/2014/main" id="{61B79B24-9020-472F-AE13-310167802C60}"/>
              </a:ext>
            </a:extLst>
          </p:cNvPr>
          <p:cNvSpPr>
            <a:spLocks noGrp="1"/>
          </p:cNvSpPr>
          <p:nvPr>
            <p:ph sz="quarter" idx="4"/>
          </p:nvPr>
        </p:nvSpPr>
        <p:spPr>
          <a:xfrm>
            <a:off x="6412362" y="2544419"/>
            <a:ext cx="4645152" cy="2914444"/>
          </a:xfrm>
        </p:spPr>
        <p:txBody>
          <a:bodyPr/>
          <a:lstStyle/>
          <a:p>
            <a:r>
              <a:rPr lang="en-US" dirty="0">
                <a:latin typeface="Times New Roman" panose="02020603050405020304" pitchFamily="18" charset="0"/>
                <a:cs typeface="Times New Roman" panose="02020603050405020304" pitchFamily="18" charset="0"/>
              </a:rPr>
              <a:t>Purely based on materialistic view and it has no moral or ethical grounds.</a:t>
            </a:r>
          </a:p>
          <a:p>
            <a:r>
              <a:rPr lang="en-US" dirty="0">
                <a:latin typeface="Times New Roman" panose="02020603050405020304" pitchFamily="18" charset="0"/>
                <a:cs typeface="Times New Roman" panose="02020603050405020304" pitchFamily="18" charset="0"/>
              </a:rPr>
              <a:t>It has occasional objectives</a:t>
            </a:r>
          </a:p>
        </p:txBody>
      </p:sp>
    </p:spTree>
    <p:extLst>
      <p:ext uri="{BB962C8B-B14F-4D97-AF65-F5344CB8AC3E}">
        <p14:creationId xmlns:p14="http://schemas.microsoft.com/office/powerpoint/2010/main" val="470675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2630-AFC3-427E-90F6-3D201224C3B4}"/>
              </a:ext>
            </a:extLst>
          </p:cNvPr>
          <p:cNvSpPr>
            <a:spLocks noGrp="1"/>
          </p:cNvSpPr>
          <p:nvPr>
            <p:ph type="title"/>
          </p:nvPr>
        </p:nvSpPr>
        <p:spPr/>
        <p:txBody>
          <a:bodyPr/>
          <a:lstStyle/>
          <a:p>
            <a:pPr algn="ctr"/>
            <a:r>
              <a:rPr lang="en-US" b="1" dirty="0">
                <a:latin typeface="Times New Roman" panose="02020603050405020304" pitchFamily="18" charset="0"/>
              </a:rPr>
              <a:t>ISLAMIC CIVILIZATION </a:t>
            </a:r>
            <a:r>
              <a:rPr lang="ur-PK" b="1" dirty="0">
                <a:latin typeface="Jameel Noori Nastaleeq" panose="02000503000000020004" pitchFamily="2" charset="-78"/>
                <a:cs typeface="Jameel Noori Nastaleeq" panose="02000503000000020004" pitchFamily="2" charset="-78"/>
              </a:rPr>
              <a:t>(اسلامی تہذیب)</a:t>
            </a:r>
            <a:br>
              <a:rPr lang="en-US" b="1" dirty="0">
                <a:latin typeface="Jameel Noori Nastaleeq" panose="02000503000000020004" pitchFamily="2" charset="-78"/>
              </a:rPr>
            </a:br>
            <a:r>
              <a:rPr lang="en-US" b="1" dirty="0">
                <a:latin typeface="Jameel Noori Nastaleeq" panose="02000503000000020004" pitchFamily="2" charset="-78"/>
              </a:rPr>
              <a:t>influences of clash of civilizations</a:t>
            </a:r>
            <a:endParaRPr lang="en-US" dirty="0"/>
          </a:p>
        </p:txBody>
      </p:sp>
      <p:sp>
        <p:nvSpPr>
          <p:cNvPr id="3" name="Content Placeholder 2">
            <a:extLst>
              <a:ext uri="{FF2B5EF4-FFF2-40B4-BE49-F238E27FC236}">
                <a16:creationId xmlns:a16="http://schemas.microsoft.com/office/drawing/2014/main" id="{02ACD443-AA43-4813-A5F7-420B17A79D9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Muslims are under siege</a:t>
            </a:r>
          </a:p>
          <a:p>
            <a:r>
              <a:rPr lang="en-US" dirty="0">
                <a:latin typeface="Times New Roman" panose="02020603050405020304" pitchFamily="18" charset="0"/>
                <a:cs typeface="Times New Roman" panose="02020603050405020304" pitchFamily="18" charset="0"/>
              </a:rPr>
              <a:t>Resentment towards Religion</a:t>
            </a:r>
          </a:p>
          <a:p>
            <a:r>
              <a:rPr lang="en-US" dirty="0">
                <a:latin typeface="Times New Roman" panose="02020603050405020304" pitchFamily="18" charset="0"/>
                <a:cs typeface="Times New Roman" panose="02020603050405020304" pitchFamily="18" charset="0"/>
              </a:rPr>
              <a:t>Inferiority</a:t>
            </a:r>
          </a:p>
          <a:p>
            <a:r>
              <a:rPr lang="en-US" dirty="0">
                <a:latin typeface="Times New Roman" panose="02020603050405020304" pitchFamily="18" charset="0"/>
                <a:cs typeface="Times New Roman" panose="02020603050405020304" pitchFamily="18" charset="0"/>
              </a:rPr>
              <a:t>Intellectual Poorness</a:t>
            </a:r>
          </a:p>
          <a:p>
            <a:r>
              <a:rPr lang="en-US" dirty="0">
                <a:latin typeface="Times New Roman" panose="02020603050405020304" pitchFamily="18" charset="0"/>
                <a:cs typeface="Times New Roman" panose="02020603050405020304" pitchFamily="18" charset="0"/>
              </a:rPr>
              <a:t>Renaissance of Islamic World</a:t>
            </a:r>
          </a:p>
        </p:txBody>
      </p:sp>
    </p:spTree>
    <p:extLst>
      <p:ext uri="{BB962C8B-B14F-4D97-AF65-F5344CB8AC3E}">
        <p14:creationId xmlns:p14="http://schemas.microsoft.com/office/powerpoint/2010/main" val="272928172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1509</TotalTime>
  <Words>1263</Words>
  <Application>Microsoft Office PowerPoint</Application>
  <PresentationFormat>Widescreen</PresentationFormat>
  <Paragraphs>180</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Gill Sans MT</vt:lpstr>
      <vt:lpstr>Jameel Noori Nastaleeq</vt:lpstr>
      <vt:lpstr>Times New Roman</vt:lpstr>
      <vt:lpstr>Traditional Arabic</vt:lpstr>
      <vt:lpstr>Gallery</vt:lpstr>
      <vt:lpstr>ISLAMIC CIVILIZATION</vt:lpstr>
      <vt:lpstr>ISLAMIC CIVILIZATION  اسلامی تہذیب</vt:lpstr>
      <vt:lpstr>ISLAMIC CIVILIZATION (اسلامی تہذیب) Characteristics of Islamic &amp; Prophetic Society</vt:lpstr>
      <vt:lpstr>ISLAMIC CIVILIZATION (اسلامی تہذیب) Characteristics of Islamic &amp; Prophetic Society</vt:lpstr>
      <vt:lpstr>ISLAMIC CIVILIZATION (اسلامی تہذیب) Characteristics of Islamic &amp; Prophetic Society</vt:lpstr>
      <vt:lpstr>ISLAMIC CIVILIZATION (اسلامی تہذیب) Characteristics of Islamic &amp; Prophetic Society</vt:lpstr>
      <vt:lpstr>ISLAMIC CIVILIZATION (اسلامی تہذیب) Characteristics of Islamic &amp; Prophetic Society</vt:lpstr>
      <vt:lpstr>ISLAMIC CIVILIZATION (اسلامی تہذیب) International Influences of Islamic Civilization </vt:lpstr>
      <vt:lpstr>ISLAMIC CIVILIZATION (اسلامی تہذیب) International Influences of Islamic Civilization </vt:lpstr>
      <vt:lpstr>ISLAMIC CIVILIZATION (اسلامی تہذیب) International Influences of Islamic Civilization</vt:lpstr>
      <vt:lpstr>ISLAMIC CIVILIZATION (اسلامی تہذیب) educational Influences</vt:lpstr>
      <vt:lpstr>ISLAMIC CIVILIZATION (اسلامی تہذیب) educational Influences</vt:lpstr>
      <vt:lpstr>ISLAMIC CIVILIZATION (اسلامی تہذیب) educational Influences</vt:lpstr>
      <vt:lpstr>ISLAMIC CIVILIZATION (اسلامی تہذیب) educational Influences</vt:lpstr>
      <vt:lpstr>ISLAMIC CIVILIZATION (اسلامی تہذیب) Characteristics &amp; Attribute of Islamic education</vt:lpstr>
      <vt:lpstr>ISLAMIC CIVILIZATION (اسلامی تہذیب) Attribute of Islamic education</vt:lpstr>
      <vt:lpstr>ISLAMIC CIVILIZATION (اسلامی تہذیب) Muslims contribution towards knowledge</vt:lpstr>
      <vt:lpstr>ISLAMIC CIVILIZATION (اسلامی تہذیب) Muslims contribution towards knowledge</vt:lpstr>
      <vt:lpstr>ISLAMIC CIVILIZATION (اسلامی تہذیب) Muslims contribution towards knowledge</vt:lpstr>
      <vt:lpstr>ISLAMIC CIVILIZATION (اسلامی تہذیب) Social and Moral influence of Islamic Civilization </vt:lpstr>
      <vt:lpstr>ISLAMIC CIVILIZATION (اسلامی تہذیب) Social and Moral influence of Islamic Civilization </vt:lpstr>
      <vt:lpstr>ISLAMIC CIVILIZATION (اسلامی تہذیب) Social and Moral influence of Islamic Civilization </vt:lpstr>
      <vt:lpstr>ISLAMIC CIVILIZATION (اسلامی تہذیب) Contemporary clash of civilizations</vt:lpstr>
      <vt:lpstr>ISLAMIC CIVILIZATION (اسلامی تہذیب) Contemporary clash of civilizations</vt:lpstr>
      <vt:lpstr>ISLAMIC CIVILIZATION (اسلامی تہذیب) influences of clash of civilizations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ISLAMIC CIVILIZATION</dc:title>
  <dc:creator>Muhammad Iqbal/Math</dc:creator>
  <cp:lastModifiedBy>Muhammad Iqbal/Math</cp:lastModifiedBy>
  <cp:revision>224</cp:revision>
  <dcterms:created xsi:type="dcterms:W3CDTF">2023-01-04T04:05:35Z</dcterms:created>
  <dcterms:modified xsi:type="dcterms:W3CDTF">2023-06-14T10:46:14Z</dcterms:modified>
</cp:coreProperties>
</file>