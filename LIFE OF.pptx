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5" r:id="rId8"/>
    <p:sldId id="262" r:id="rId9"/>
    <p:sldId id="263" r:id="rId10"/>
    <p:sldId id="266" r:id="rId11"/>
    <p:sldId id="264" r:id="rId12"/>
    <p:sldId id="267" r:id="rId13"/>
    <p:sldId id="268" r:id="rId14"/>
    <p:sldId id="269" r:id="rId15"/>
    <p:sldId id="271" r:id="rId16"/>
    <p:sldId id="273" r:id="rId17"/>
    <p:sldId id="272" r:id="rId18"/>
    <p:sldId id="274" r:id="rId19"/>
    <p:sldId id="275" r:id="rId20"/>
    <p:sldId id="270"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sorterViewPr>
    <p:cViewPr>
      <p:scale>
        <a:sx n="100" d="100"/>
        <a:sy n="100" d="100"/>
      </p:scale>
      <p:origin x="0" y="-242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11B08F94-B015-4659-8CEC-3FA4415F852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249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1723226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7482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EF2FA1-1F5C-4408-BAE1-5075CC5517F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1602731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EF2FA1-1F5C-4408-BAE1-5075CC5517FE}" type="datetimeFigureOut">
              <a:rPr lang="en-US" smtClean="0"/>
              <a:t>6/8/2023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B08F94-B015-4659-8CEC-3FA4415F852A}"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715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EF2FA1-1F5C-4408-BAE1-5075CC5517FE}" type="datetimeFigureOut">
              <a:rPr lang="en-US" smtClean="0"/>
              <a:t>6/8/2023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B08F94-B015-4659-8CEC-3FA4415F852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557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EF2FA1-1F5C-4408-BAE1-5075CC5517FE}" type="datetimeFigureOut">
              <a:rPr lang="en-US" smtClean="0"/>
              <a:t>6/8/2023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3190809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FEF2FA1-1F5C-4408-BAE1-5075CC5517F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08F94-B015-4659-8CEC-3FA4415F852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036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FEF2FA1-1F5C-4408-BAE1-5075CC5517F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1414587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FEF2FA1-1F5C-4408-BAE1-5075CC5517F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4209902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3381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1374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spTree>
    <p:extLst>
      <p:ext uri="{BB962C8B-B14F-4D97-AF65-F5344CB8AC3E}">
        <p14:creationId xmlns:p14="http://schemas.microsoft.com/office/powerpoint/2010/main" val="3041011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9439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4693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1013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F2FA1-1F5C-4408-BAE1-5075CC5517F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08F94-B015-4659-8CEC-3FA4415F852A}"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644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FEF2FA1-1F5C-4408-BAE1-5075CC5517FE}" type="datetimeFigureOut">
              <a:rPr lang="en-US" smtClean="0"/>
              <a:t>6/8/2023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B08F94-B015-4659-8CEC-3FA4415F852A}" type="slidenum">
              <a:rPr lang="en-US" smtClean="0"/>
              <a:t>‹#›</a:t>
            </a:fld>
            <a:endParaRPr lang="en-US"/>
          </a:p>
        </p:txBody>
      </p:sp>
    </p:spTree>
    <p:extLst>
      <p:ext uri="{BB962C8B-B14F-4D97-AF65-F5344CB8AC3E}">
        <p14:creationId xmlns:p14="http://schemas.microsoft.com/office/powerpoint/2010/main" val="15298481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islamic-content.com/hadeeth/969/ur"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islamqa.info/en/answers/241838"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1809-1634-4C4C-BE84-8B04F6292B50}"/>
              </a:ext>
            </a:extLst>
          </p:cNvPr>
          <p:cNvSpPr>
            <a:spLocks noGrp="1"/>
          </p:cNvSpPr>
          <p:nvPr>
            <p:ph type="ctrTitle"/>
          </p:nvPr>
        </p:nvSpPr>
        <p:spPr>
          <a:xfrm>
            <a:off x="2692398" y="1722783"/>
            <a:ext cx="6815669" cy="1842052"/>
          </a:xfrm>
        </p:spPr>
        <p:txBody>
          <a:bodyPr/>
          <a:lstStyle/>
          <a:p>
            <a:r>
              <a:rPr lang="en-US" dirty="0"/>
              <a:t>LIFE OF HOLY PROPHET </a:t>
            </a:r>
            <a:r>
              <a:rPr lang="ur-PK" dirty="0"/>
              <a:t>ﷺ</a:t>
            </a:r>
            <a:endParaRPr lang="en-US" dirty="0"/>
          </a:p>
        </p:txBody>
      </p:sp>
      <p:sp>
        <p:nvSpPr>
          <p:cNvPr id="3" name="Subtitle 2">
            <a:extLst>
              <a:ext uri="{FF2B5EF4-FFF2-40B4-BE49-F238E27FC236}">
                <a16:creationId xmlns:a16="http://schemas.microsoft.com/office/drawing/2014/main" id="{A1CEF939-53FF-48C2-AB77-5E6824AB39CD}"/>
              </a:ext>
            </a:extLst>
          </p:cNvPr>
          <p:cNvSpPr>
            <a:spLocks noGrp="1"/>
          </p:cNvSpPr>
          <p:nvPr>
            <p:ph type="subTitle" idx="1"/>
          </p:nvPr>
        </p:nvSpPr>
        <p:spPr>
          <a:xfrm>
            <a:off x="2692398" y="3564835"/>
            <a:ext cx="6815669" cy="1413564"/>
          </a:xfrm>
        </p:spPr>
        <p:txBody>
          <a:bodyPr/>
          <a:lstStyle/>
          <a:p>
            <a:r>
              <a:rPr lang="en-US" dirty="0"/>
              <a:t>NEED AND SIGNIFICANCE</a:t>
            </a:r>
          </a:p>
        </p:txBody>
      </p:sp>
    </p:spTree>
    <p:extLst>
      <p:ext uri="{BB962C8B-B14F-4D97-AF65-F5344CB8AC3E}">
        <p14:creationId xmlns:p14="http://schemas.microsoft.com/office/powerpoint/2010/main" val="166238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8FED-F36C-4C96-86B5-8AD29D7C2B75}"/>
              </a:ext>
            </a:extLst>
          </p:cNvPr>
          <p:cNvSpPr>
            <a:spLocks noGrp="1"/>
          </p:cNvSpPr>
          <p:nvPr>
            <p:ph type="title"/>
          </p:nvPr>
        </p:nvSpPr>
        <p:spPr/>
        <p:txBody>
          <a:bodyPr>
            <a:normAutofit fontScale="90000"/>
          </a:bodyPr>
          <a:lstStyle/>
          <a:p>
            <a:pPr algn="ctr"/>
            <a:r>
              <a:rPr lang="en-US" dirty="0"/>
              <a:t>LIFE OF HOLY PROPHET MUHAMMAD </a:t>
            </a:r>
            <a:r>
              <a:rPr lang="ur-PK" dirty="0"/>
              <a:t>ﷺ</a:t>
            </a:r>
            <a:endParaRPr lang="en-US" dirty="0"/>
          </a:p>
        </p:txBody>
      </p:sp>
      <p:sp>
        <p:nvSpPr>
          <p:cNvPr id="3" name="Content Placeholder 2">
            <a:extLst>
              <a:ext uri="{FF2B5EF4-FFF2-40B4-BE49-F238E27FC236}">
                <a16:creationId xmlns:a16="http://schemas.microsoft.com/office/drawing/2014/main" id="{4BAADE99-2FC9-4885-98A4-D114F091A6C4}"/>
              </a:ext>
            </a:extLst>
          </p:cNvPr>
          <p:cNvSpPr>
            <a:spLocks noGrp="1"/>
          </p:cNvSpPr>
          <p:nvPr>
            <p:ph idx="1"/>
          </p:nvPr>
        </p:nvSpPr>
        <p:spPr/>
        <p:txBody>
          <a:bodyPr/>
          <a:lstStyle/>
          <a:p>
            <a:pPr marL="0" indent="0">
              <a:buNone/>
            </a:pPr>
            <a:r>
              <a:rPr lang="en-US" dirty="0"/>
              <a:t>The word </a:t>
            </a:r>
            <a:r>
              <a:rPr lang="en-US" dirty="0" err="1"/>
              <a:t>seerah</a:t>
            </a:r>
            <a:r>
              <a:rPr lang="en-US" dirty="0"/>
              <a:t> (</a:t>
            </a:r>
            <a:r>
              <a:rPr lang="ur-PK" dirty="0"/>
              <a:t>سیرۃ</a:t>
            </a:r>
            <a:r>
              <a:rPr lang="en-US" dirty="0"/>
              <a:t>)</a:t>
            </a:r>
            <a:r>
              <a:rPr lang="ur-PK" dirty="0"/>
              <a:t> </a:t>
            </a:r>
            <a:r>
              <a:rPr lang="en-US" dirty="0"/>
              <a:t>is used for the biography of Holy Prophet </a:t>
            </a:r>
            <a:r>
              <a:rPr lang="ur-PK" dirty="0"/>
              <a:t>ﷺ</a:t>
            </a:r>
            <a:endParaRPr lang="en-US" dirty="0"/>
          </a:p>
          <a:p>
            <a:r>
              <a:rPr lang="en-US" dirty="0"/>
              <a:t>Literal Meaning of </a:t>
            </a:r>
            <a:r>
              <a:rPr lang="en-US" dirty="0" err="1"/>
              <a:t>Seerah</a:t>
            </a:r>
            <a:endParaRPr lang="ur-PK" dirty="0"/>
          </a:p>
          <a:p>
            <a:pPr marL="0" indent="0">
              <a:buNone/>
            </a:pPr>
            <a:r>
              <a:rPr lang="en-US" sz="1800" dirty="0" err="1"/>
              <a:t>Seerah</a:t>
            </a:r>
            <a:r>
              <a:rPr lang="en-US" sz="1800" dirty="0"/>
              <a:t> came from </a:t>
            </a:r>
            <a:r>
              <a:rPr lang="ur-PK" sz="1800" dirty="0"/>
              <a:t>سَارَ</a:t>
            </a:r>
            <a:r>
              <a:rPr lang="en-US" sz="1800" dirty="0"/>
              <a:t>, which means to travel or to be on a journey (Journey through life). </a:t>
            </a:r>
          </a:p>
          <a:p>
            <a:pPr marL="0" indent="0">
              <a:buNone/>
            </a:pPr>
            <a:r>
              <a:rPr lang="en-US" sz="1800" dirty="0" err="1"/>
              <a:t>Seerah</a:t>
            </a:r>
            <a:r>
              <a:rPr lang="en-US" sz="1800" dirty="0"/>
              <a:t> means the way of journey. </a:t>
            </a:r>
            <a:r>
              <a:rPr lang="ur-PK" sz="1800" dirty="0"/>
              <a:t>سیرۃ النبی</a:t>
            </a:r>
            <a:r>
              <a:rPr lang="en-US" sz="1800" dirty="0"/>
              <a:t> the way of life, the life style of Holy Prophet </a:t>
            </a:r>
            <a:r>
              <a:rPr lang="ur-PK" sz="1800" dirty="0"/>
              <a:t>ﷺ</a:t>
            </a:r>
            <a:endParaRPr lang="en-US" sz="1800" dirty="0"/>
          </a:p>
          <a:p>
            <a:pPr marL="0" indent="0">
              <a:buNone/>
            </a:pPr>
            <a:endParaRPr lang="en-US" dirty="0"/>
          </a:p>
        </p:txBody>
      </p:sp>
    </p:spTree>
    <p:extLst>
      <p:ext uri="{BB962C8B-B14F-4D97-AF65-F5344CB8AC3E}">
        <p14:creationId xmlns:p14="http://schemas.microsoft.com/office/powerpoint/2010/main" val="4101792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35840-B341-4902-B211-94BA9E5BAF19}"/>
              </a:ext>
            </a:extLst>
          </p:cNvPr>
          <p:cNvSpPr>
            <a:spLocks noGrp="1"/>
          </p:cNvSpPr>
          <p:nvPr>
            <p:ph type="title"/>
          </p:nvPr>
        </p:nvSpPr>
        <p:spPr/>
        <p:txBody>
          <a:bodyPr>
            <a:normAutofit fontScale="90000"/>
          </a:bodyPr>
          <a:lstStyle/>
          <a:p>
            <a:r>
              <a:rPr lang="en-US" dirty="0"/>
              <a:t>LIFE OF HOLY PROPHET MUHAMMAD </a:t>
            </a:r>
            <a:r>
              <a:rPr lang="ur-PK" dirty="0"/>
              <a:t>ﷺ</a:t>
            </a:r>
            <a:endParaRPr lang="en-US" dirty="0"/>
          </a:p>
        </p:txBody>
      </p:sp>
      <p:sp>
        <p:nvSpPr>
          <p:cNvPr id="3" name="Content Placeholder 2">
            <a:extLst>
              <a:ext uri="{FF2B5EF4-FFF2-40B4-BE49-F238E27FC236}">
                <a16:creationId xmlns:a16="http://schemas.microsoft.com/office/drawing/2014/main" id="{9837DAA4-6840-4F74-98B9-F6D2D7CF0275}"/>
              </a:ext>
            </a:extLst>
          </p:cNvPr>
          <p:cNvSpPr>
            <a:spLocks noGrp="1"/>
          </p:cNvSpPr>
          <p:nvPr>
            <p:ph idx="1"/>
          </p:nvPr>
        </p:nvSpPr>
        <p:spPr/>
        <p:txBody>
          <a:bodyPr/>
          <a:lstStyle/>
          <a:p>
            <a:r>
              <a:rPr lang="en-US" dirty="0"/>
              <a:t>Importance of </a:t>
            </a:r>
            <a:r>
              <a:rPr lang="en-US" dirty="0" err="1"/>
              <a:t>Seerah</a:t>
            </a:r>
            <a:r>
              <a:rPr lang="en-US" dirty="0"/>
              <a:t> in the Holy Qur’an</a:t>
            </a:r>
          </a:p>
          <a:p>
            <a:pPr marL="0" indent="0" algn="ctr">
              <a:buNone/>
            </a:pPr>
            <a:r>
              <a:rPr lang="ar-SA" dirty="0">
                <a:latin typeface="Traditional Arabic" panose="02020603050405020304" pitchFamily="18" charset="-78"/>
                <a:cs typeface="Traditional Arabic" panose="02020603050405020304" pitchFamily="18" charset="-78"/>
              </a:rPr>
              <a:t>قُلْ إِن كُنتُمْ تُحِبُّونَ ٱللَّهَ فَٱتَّبِعُونِى يُحْبِبْكُمُ ٱللَّهُ وَيَغْفِرْ لَكُمْ ذُنُوبَكُمْ</a:t>
            </a:r>
            <a:endParaRPr lang="ur-PK" dirty="0">
              <a:latin typeface="Traditional Arabic" panose="02020603050405020304" pitchFamily="18" charset="-78"/>
              <a:cs typeface="Traditional Arabic" panose="02020603050405020304" pitchFamily="18" charset="-78"/>
            </a:endParaRPr>
          </a:p>
          <a:p>
            <a:pPr marL="0" indent="0" algn="ctr">
              <a:buNone/>
            </a:pPr>
            <a:r>
              <a:rPr lang="en-US" sz="1800" dirty="0"/>
              <a:t>Say, [O Muhammad], "If you should love Allah, then follow me, </a:t>
            </a:r>
          </a:p>
          <a:p>
            <a:pPr marL="0" indent="0" algn="ctr">
              <a:buNone/>
            </a:pPr>
            <a:r>
              <a:rPr lang="en-US" sz="1800" dirty="0"/>
              <a:t>[so] Allah will love you and forgive you your sins. </a:t>
            </a:r>
          </a:p>
          <a:p>
            <a:pPr marL="0" indent="0" algn="ctr">
              <a:buNone/>
            </a:pPr>
            <a:r>
              <a:rPr lang="en-US" sz="1800" dirty="0"/>
              <a:t>And Allah is Forgiving and Merciful."</a:t>
            </a:r>
          </a:p>
          <a:p>
            <a:pPr marL="0" indent="0" algn="ctr">
              <a:buNone/>
            </a:pPr>
            <a:r>
              <a:rPr lang="ar-SA" dirty="0"/>
              <a:t>و</a:t>
            </a:r>
            <a:r>
              <a:rPr lang="ar-SA" dirty="0">
                <a:latin typeface="Traditional Arabic" panose="02020603050405020304" pitchFamily="18" charset="-78"/>
                <a:cs typeface="Traditional Arabic" panose="02020603050405020304" pitchFamily="18" charset="-78"/>
              </a:rPr>
              <a:t>أَطِيعُوا اللَّهَ وَالرَّسُولَ لَعَلَّكُمْ تُرْحَمُونَ</a:t>
            </a:r>
            <a:endParaRPr lang="en-US" dirty="0">
              <a:latin typeface="Traditional Arabic" panose="02020603050405020304" pitchFamily="18" charset="-78"/>
              <a:cs typeface="Traditional Arabic" panose="02020603050405020304" pitchFamily="18" charset="-78"/>
            </a:endParaRPr>
          </a:p>
          <a:p>
            <a:pPr marL="0" indent="0" algn="ctr">
              <a:buNone/>
            </a:pPr>
            <a:r>
              <a:rPr lang="en-US" sz="1800" dirty="0"/>
              <a:t>And obey Allah and the Messenger that you may obtain mercy.</a:t>
            </a:r>
          </a:p>
          <a:p>
            <a:pPr marL="0" indent="0" algn="ctr">
              <a:buNone/>
            </a:pPr>
            <a:endParaRPr lang="en-US"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79076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EB0B-AAF8-4193-858A-C8129D0C6C34}"/>
              </a:ext>
            </a:extLst>
          </p:cNvPr>
          <p:cNvSpPr>
            <a:spLocks noGrp="1"/>
          </p:cNvSpPr>
          <p:nvPr>
            <p:ph type="title"/>
          </p:nvPr>
        </p:nvSpPr>
        <p:spPr/>
        <p:txBody>
          <a:bodyPr>
            <a:normAutofit fontScale="90000"/>
          </a:bodyPr>
          <a:lstStyle/>
          <a:p>
            <a:r>
              <a:rPr lang="en-US" dirty="0"/>
              <a:t>LIFE OF HOLY PROPHET MUHAMMAD </a:t>
            </a:r>
            <a:r>
              <a:rPr lang="ur-PK" dirty="0"/>
              <a:t>ﷺ</a:t>
            </a:r>
            <a:endParaRPr lang="en-US" dirty="0"/>
          </a:p>
        </p:txBody>
      </p:sp>
      <p:sp>
        <p:nvSpPr>
          <p:cNvPr id="3" name="Content Placeholder 2">
            <a:extLst>
              <a:ext uri="{FF2B5EF4-FFF2-40B4-BE49-F238E27FC236}">
                <a16:creationId xmlns:a16="http://schemas.microsoft.com/office/drawing/2014/main" id="{A16DA52F-58AF-4F38-A1E9-A6E0F1E99DCC}"/>
              </a:ext>
            </a:extLst>
          </p:cNvPr>
          <p:cNvSpPr>
            <a:spLocks noGrp="1"/>
          </p:cNvSpPr>
          <p:nvPr>
            <p:ph idx="1"/>
          </p:nvPr>
        </p:nvSpPr>
        <p:spPr/>
        <p:txBody>
          <a:bodyPr/>
          <a:lstStyle/>
          <a:p>
            <a:r>
              <a:rPr lang="en-US" dirty="0"/>
              <a:t>Importance of </a:t>
            </a:r>
            <a:r>
              <a:rPr lang="en-US" dirty="0" err="1"/>
              <a:t>Seerah</a:t>
            </a:r>
            <a:r>
              <a:rPr lang="en-US" dirty="0"/>
              <a:t> in </a:t>
            </a:r>
            <a:r>
              <a:rPr lang="en-US" dirty="0" err="1"/>
              <a:t>Hadees</a:t>
            </a:r>
            <a:endParaRPr lang="en-US" dirty="0"/>
          </a:p>
          <a:p>
            <a:pPr marL="0" indent="0" algn="ctr">
              <a:buNone/>
            </a:pPr>
            <a:r>
              <a:rPr lang="ar-SA" dirty="0">
                <a:latin typeface="Traditional Arabic" panose="02020603050405020304" pitchFamily="18" charset="-78"/>
                <a:cs typeface="Traditional Arabic" panose="02020603050405020304" pitchFamily="18" charset="-78"/>
              </a:rPr>
              <a:t>مَنْ أَطَاعَنِي فَقَدْ أَطَاعَ اللَّهَ وَمَنْ عَصَانِي فَقَدْ عَصَى اللَّهَ</a:t>
            </a:r>
            <a:endParaRPr lang="en-US" dirty="0">
              <a:latin typeface="Traditional Arabic" panose="02020603050405020304" pitchFamily="18" charset="-78"/>
              <a:cs typeface="Traditional Arabic" panose="02020603050405020304" pitchFamily="18" charset="-78"/>
            </a:endParaRPr>
          </a:p>
          <a:p>
            <a:pPr marL="0" indent="0" algn="ctr">
              <a:buNone/>
            </a:pPr>
            <a:r>
              <a:rPr lang="en-US" sz="1800" dirty="0"/>
              <a:t>Whoever obeys me, obeys Allah, And whoever disobeys me, disobeys Allah.</a:t>
            </a:r>
          </a:p>
          <a:p>
            <a:pPr marL="0" indent="0" algn="ctr">
              <a:buNone/>
            </a:pPr>
            <a:r>
              <a:rPr lang="ar-SA" dirty="0">
                <a:latin typeface="Traditional Arabic" panose="02020603050405020304" pitchFamily="18" charset="-78"/>
                <a:cs typeface="Traditional Arabic" panose="02020603050405020304" pitchFamily="18" charset="-78"/>
              </a:rPr>
              <a:t>تَرَكْتُ فِيكُمْ أَمْرَيْنِ لَنْ تَضِلُّوا مَا تَمَسَّكْتُمْ بِهِمَا كِتَابَ اللَّهِ وَسُنَّةَ نَبِيِّهِ</a:t>
            </a:r>
            <a:endParaRPr lang="ur-PK" dirty="0">
              <a:latin typeface="Traditional Arabic" panose="02020603050405020304" pitchFamily="18" charset="-78"/>
              <a:cs typeface="Traditional Arabic" panose="02020603050405020304" pitchFamily="18" charset="-78"/>
            </a:endParaRPr>
          </a:p>
          <a:p>
            <a:pPr marL="0" indent="0" algn="ctr">
              <a:buNone/>
            </a:pPr>
            <a:r>
              <a:rPr lang="en-US" sz="1800" dirty="0"/>
              <a:t>I have left two matters with you. As long as you hold to them, </a:t>
            </a:r>
          </a:p>
          <a:p>
            <a:pPr marL="0" indent="0" algn="ctr">
              <a:buNone/>
            </a:pPr>
            <a:r>
              <a:rPr lang="en-US" sz="1800" dirty="0"/>
              <a:t>you will not go the wrong way. They are the Book of Allah and </a:t>
            </a:r>
          </a:p>
          <a:p>
            <a:pPr marL="0" indent="0" algn="ctr">
              <a:buNone/>
            </a:pPr>
            <a:r>
              <a:rPr lang="en-US" sz="1800" dirty="0"/>
              <a:t>the Sunna of His Prophet.</a:t>
            </a:r>
          </a:p>
        </p:txBody>
      </p:sp>
    </p:spTree>
    <p:extLst>
      <p:ext uri="{BB962C8B-B14F-4D97-AF65-F5344CB8AC3E}">
        <p14:creationId xmlns:p14="http://schemas.microsoft.com/office/powerpoint/2010/main" val="3377702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EC02-CDB4-418E-BE39-87F99BCE2176}"/>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Migration to </a:t>
            </a:r>
            <a:r>
              <a:rPr lang="en-US" dirty="0" err="1"/>
              <a:t>Madina</a:t>
            </a:r>
            <a:endParaRPr lang="en-US" dirty="0"/>
          </a:p>
        </p:txBody>
      </p:sp>
      <p:sp>
        <p:nvSpPr>
          <p:cNvPr id="3" name="Content Placeholder 2">
            <a:extLst>
              <a:ext uri="{FF2B5EF4-FFF2-40B4-BE49-F238E27FC236}">
                <a16:creationId xmlns:a16="http://schemas.microsoft.com/office/drawing/2014/main" id="{DC8CC2B1-DA40-4B6E-91F4-AEB36CDADF44}"/>
              </a:ext>
            </a:extLst>
          </p:cNvPr>
          <p:cNvSpPr>
            <a:spLocks noGrp="1"/>
          </p:cNvSpPr>
          <p:nvPr>
            <p:ph idx="1"/>
          </p:nvPr>
        </p:nvSpPr>
        <p:spPr/>
        <p:txBody>
          <a:bodyPr>
            <a:normAutofit/>
          </a:bodyPr>
          <a:lstStyle/>
          <a:p>
            <a:pPr algn="just"/>
            <a:r>
              <a:rPr lang="en-US" dirty="0"/>
              <a:t>Madinah (Strong Defensive Position)</a:t>
            </a:r>
          </a:p>
          <a:p>
            <a:pPr marL="0" indent="0" algn="just">
              <a:buNone/>
            </a:pPr>
            <a:r>
              <a:rPr lang="en-US" sz="1800" dirty="0" err="1"/>
              <a:t>Madina</a:t>
            </a:r>
            <a:r>
              <a:rPr lang="en-US" sz="1800" dirty="0"/>
              <a:t> was chosen as the next place because its three corners were mountains while the one remaining fourth corner was desert.</a:t>
            </a:r>
          </a:p>
          <a:p>
            <a:pPr algn="just"/>
            <a:r>
              <a:rPr lang="en-US" dirty="0"/>
              <a:t>Need of a Missionary Teacher</a:t>
            </a:r>
          </a:p>
          <a:p>
            <a:pPr marL="0" indent="0" algn="just">
              <a:buNone/>
            </a:pPr>
            <a:r>
              <a:rPr lang="en-US" sz="1800" dirty="0"/>
              <a:t>Holy Prophet </a:t>
            </a:r>
            <a:r>
              <a:rPr lang="ur-PK" sz="1800" dirty="0"/>
              <a:t>ﷺ</a:t>
            </a:r>
            <a:r>
              <a:rPr lang="en-US" sz="1800" dirty="0"/>
              <a:t> was asked a teacher by new Muslims. He sent </a:t>
            </a:r>
            <a:r>
              <a:rPr lang="en-US" sz="1800" dirty="0" err="1"/>
              <a:t>Musaab</a:t>
            </a:r>
            <a:r>
              <a:rPr lang="en-US" sz="1800" dirty="0"/>
              <a:t> bin Umair </a:t>
            </a:r>
            <a:r>
              <a:rPr lang="ur-PK" sz="1800" dirty="0"/>
              <a:t>رضی اللہ عنہ</a:t>
            </a:r>
          </a:p>
          <a:p>
            <a:pPr algn="just">
              <a:buFont typeface="Arial" panose="020B0604020202020204" pitchFamily="34" charset="0"/>
              <a:buChar char="•"/>
            </a:pPr>
            <a:r>
              <a:rPr lang="en-US" dirty="0"/>
              <a:t>Plotting an assassination of Prophet by Non Believers </a:t>
            </a:r>
            <a:endParaRPr lang="en-US" sz="1800" dirty="0"/>
          </a:p>
          <a:p>
            <a:pPr marL="0" indent="0" algn="just">
              <a:buNone/>
            </a:pPr>
            <a:r>
              <a:rPr lang="en-US" sz="1800" dirty="0"/>
              <a:t>Nonbelievers planned in Dar u </a:t>
            </a:r>
            <a:r>
              <a:rPr lang="en-US" sz="1800" dirty="0" err="1"/>
              <a:t>Nadwa</a:t>
            </a:r>
            <a:r>
              <a:rPr lang="en-US" sz="1800" dirty="0"/>
              <a:t> to kill the Prophet in his house and surrounded his house</a:t>
            </a:r>
          </a:p>
        </p:txBody>
      </p:sp>
    </p:spTree>
    <p:extLst>
      <p:ext uri="{BB962C8B-B14F-4D97-AF65-F5344CB8AC3E}">
        <p14:creationId xmlns:p14="http://schemas.microsoft.com/office/powerpoint/2010/main" val="218670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1CF5-8E72-41F1-8A65-079FDB48DBBE}"/>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Migration to </a:t>
            </a:r>
            <a:r>
              <a:rPr lang="en-US" dirty="0" err="1"/>
              <a:t>Madina</a:t>
            </a:r>
            <a:endParaRPr lang="en-US" dirty="0"/>
          </a:p>
        </p:txBody>
      </p:sp>
      <p:sp>
        <p:nvSpPr>
          <p:cNvPr id="3" name="Content Placeholder 2">
            <a:extLst>
              <a:ext uri="{FF2B5EF4-FFF2-40B4-BE49-F238E27FC236}">
                <a16:creationId xmlns:a16="http://schemas.microsoft.com/office/drawing/2014/main" id="{C18D73C9-8EB3-4990-B16F-668486F96D2C}"/>
              </a:ext>
            </a:extLst>
          </p:cNvPr>
          <p:cNvSpPr>
            <a:spLocks noGrp="1"/>
          </p:cNvSpPr>
          <p:nvPr>
            <p:ph idx="1"/>
          </p:nvPr>
        </p:nvSpPr>
        <p:spPr/>
        <p:txBody>
          <a:bodyPr>
            <a:normAutofit lnSpcReduction="10000"/>
          </a:bodyPr>
          <a:lstStyle/>
          <a:p>
            <a:pPr algn="just"/>
            <a:r>
              <a:rPr lang="en-US" dirty="0"/>
              <a:t>Sadiq &amp; Amin</a:t>
            </a:r>
          </a:p>
          <a:p>
            <a:pPr marL="0" indent="0" algn="just">
              <a:buNone/>
            </a:pPr>
            <a:r>
              <a:rPr lang="en-US" sz="1800" dirty="0"/>
              <a:t>Many people deposited their valuable thing with </a:t>
            </a:r>
            <a:r>
              <a:rPr lang="en-US" sz="1800" dirty="0" err="1"/>
              <a:t>Propher</a:t>
            </a:r>
            <a:r>
              <a:rPr lang="en-US" sz="1800" dirty="0"/>
              <a:t> because of his truthfulness and trustworthiness, he entrusted all thing to </a:t>
            </a:r>
            <a:r>
              <a:rPr lang="en-US" sz="1800" dirty="0" err="1"/>
              <a:t>Hazrat</a:t>
            </a:r>
            <a:r>
              <a:rPr lang="en-US" sz="1800" dirty="0"/>
              <a:t> Ali</a:t>
            </a:r>
          </a:p>
          <a:p>
            <a:pPr algn="just"/>
            <a:r>
              <a:rPr lang="en-US" dirty="0" err="1"/>
              <a:t>Jabl</a:t>
            </a:r>
            <a:r>
              <a:rPr lang="en-US" dirty="0"/>
              <a:t>-e-Saur</a:t>
            </a:r>
          </a:p>
          <a:p>
            <a:pPr marL="0" indent="0" algn="just">
              <a:buNone/>
            </a:pPr>
            <a:r>
              <a:rPr lang="en-US" sz="1800" dirty="0"/>
              <a:t>Holy Prophet took Abu Baker from his home and proceed towards </a:t>
            </a:r>
            <a:r>
              <a:rPr lang="en-US" sz="1800" dirty="0" err="1"/>
              <a:t>Jabl</a:t>
            </a:r>
            <a:r>
              <a:rPr lang="en-US" sz="1800" dirty="0"/>
              <a:t>-e-Saur</a:t>
            </a:r>
          </a:p>
          <a:p>
            <a:pPr algn="just"/>
            <a:r>
              <a:rPr lang="en-US" dirty="0"/>
              <a:t>Kuffar’s Curiosity</a:t>
            </a:r>
          </a:p>
          <a:p>
            <a:pPr marL="0" indent="0" algn="just">
              <a:buNone/>
            </a:pPr>
            <a:r>
              <a:rPr lang="en-US" sz="1800" dirty="0"/>
              <a:t>Nonbelievers followed the footprints and reached the cave. Holy Prophet said: Don’t worry Abu Bakar, Allah is with us.</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409192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C9F337-7AF8-46C0-B150-EF41A6AC94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946" y="1166190"/>
            <a:ext cx="8256104" cy="4492487"/>
          </a:xfrm>
          <a:prstGeom prst="rect">
            <a:avLst/>
          </a:prstGeom>
        </p:spPr>
      </p:pic>
      <p:sp>
        <p:nvSpPr>
          <p:cNvPr id="2" name="Rectangle: Rounded Corners 1">
            <a:extLst>
              <a:ext uri="{FF2B5EF4-FFF2-40B4-BE49-F238E27FC236}">
                <a16:creationId xmlns:a16="http://schemas.microsoft.com/office/drawing/2014/main" id="{0EA60B8D-962D-44B2-A92E-0A59FB165AF8}"/>
              </a:ext>
            </a:extLst>
          </p:cNvPr>
          <p:cNvSpPr/>
          <p:nvPr/>
        </p:nvSpPr>
        <p:spPr>
          <a:xfrm>
            <a:off x="821634" y="1683026"/>
            <a:ext cx="1762539" cy="9011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Hijrah Route</a:t>
            </a:r>
          </a:p>
        </p:txBody>
      </p:sp>
    </p:spTree>
    <p:extLst>
      <p:ext uri="{BB962C8B-B14F-4D97-AF65-F5344CB8AC3E}">
        <p14:creationId xmlns:p14="http://schemas.microsoft.com/office/powerpoint/2010/main" val="604532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B8E5E-4403-4E1C-A7DD-D837469F4767}"/>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Migration to </a:t>
            </a:r>
            <a:r>
              <a:rPr lang="en-US" dirty="0" err="1"/>
              <a:t>Madina</a:t>
            </a:r>
            <a:endParaRPr lang="en-US" dirty="0"/>
          </a:p>
        </p:txBody>
      </p:sp>
      <p:sp>
        <p:nvSpPr>
          <p:cNvPr id="3" name="Content Placeholder 2">
            <a:extLst>
              <a:ext uri="{FF2B5EF4-FFF2-40B4-BE49-F238E27FC236}">
                <a16:creationId xmlns:a16="http://schemas.microsoft.com/office/drawing/2014/main" id="{9E0F99A6-C688-4202-980A-238AFB103FFC}"/>
              </a:ext>
            </a:extLst>
          </p:cNvPr>
          <p:cNvSpPr>
            <a:spLocks noGrp="1"/>
          </p:cNvSpPr>
          <p:nvPr>
            <p:ph idx="1"/>
          </p:nvPr>
        </p:nvSpPr>
        <p:spPr/>
        <p:txBody>
          <a:bodyPr/>
          <a:lstStyle/>
          <a:p>
            <a:r>
              <a:rPr lang="en-US" dirty="0"/>
              <a:t>The way to </a:t>
            </a:r>
            <a:r>
              <a:rPr lang="en-US" dirty="0" err="1"/>
              <a:t>Madina</a:t>
            </a:r>
            <a:endParaRPr lang="en-US" dirty="0"/>
          </a:p>
          <a:p>
            <a:pPr marL="0" indent="0" algn="just">
              <a:buNone/>
            </a:pPr>
            <a:r>
              <a:rPr lang="en-US" sz="1800" dirty="0"/>
              <a:t>On one camel were Amir bin </a:t>
            </a:r>
            <a:r>
              <a:rPr lang="en-US" sz="1800" dirty="0" err="1"/>
              <a:t>Fuhaira</a:t>
            </a:r>
            <a:r>
              <a:rPr lang="en-US" sz="1800" dirty="0"/>
              <a:t> (Abu Bakar’s slave) and </a:t>
            </a:r>
            <a:r>
              <a:rPr lang="en-US" sz="1800" dirty="0" err="1"/>
              <a:t>Abullah</a:t>
            </a:r>
            <a:r>
              <a:rPr lang="en-US" sz="1800" dirty="0"/>
              <a:t> bin </a:t>
            </a:r>
            <a:r>
              <a:rPr lang="en-US" sz="1800" dirty="0" err="1"/>
              <a:t>Oryiqit</a:t>
            </a:r>
            <a:r>
              <a:rPr lang="en-US" sz="1800" dirty="0"/>
              <a:t> (guidance) and on the other camel were Abu Bakar with Holy Prophet </a:t>
            </a:r>
            <a:r>
              <a:rPr lang="ur-PK" sz="1800" dirty="0"/>
              <a:t>ﷺ</a:t>
            </a:r>
            <a:r>
              <a:rPr lang="en-US" sz="1800" dirty="0"/>
              <a:t>.</a:t>
            </a:r>
          </a:p>
          <a:p>
            <a:pPr algn="just"/>
            <a:r>
              <a:rPr lang="en-US" dirty="0" err="1"/>
              <a:t>Suraqa</a:t>
            </a:r>
            <a:r>
              <a:rPr lang="en-US" dirty="0"/>
              <a:t> bin </a:t>
            </a:r>
            <a:r>
              <a:rPr lang="en-US" dirty="0" err="1"/>
              <a:t>Jasham</a:t>
            </a:r>
            <a:r>
              <a:rPr lang="en-US" dirty="0"/>
              <a:t> (</a:t>
            </a:r>
            <a:r>
              <a:rPr lang="ur-PK" dirty="0">
                <a:latin typeface="Jameel Noori Nastaleeq" panose="02000503000000020004" pitchFamily="2" charset="-78"/>
                <a:cs typeface="Jameel Noori Nastaleeq" panose="02000503000000020004" pitchFamily="2" charset="-78"/>
              </a:rPr>
              <a:t>سُراقۃ بن جعشم</a:t>
            </a:r>
            <a:r>
              <a:rPr lang="en-US" dirty="0"/>
              <a:t>)</a:t>
            </a:r>
          </a:p>
          <a:p>
            <a:pPr marL="0" indent="0" algn="just">
              <a:buNone/>
            </a:pPr>
            <a:r>
              <a:rPr lang="en-US" sz="1800" dirty="0"/>
              <a:t>Nonbelievers had </a:t>
            </a:r>
            <a:r>
              <a:rPr lang="en-US" sz="1800" dirty="0" err="1"/>
              <a:t>accounced</a:t>
            </a:r>
            <a:r>
              <a:rPr lang="en-US" sz="1800" dirty="0"/>
              <a:t> reward against the Prophet. </a:t>
            </a:r>
            <a:r>
              <a:rPr lang="en-US" sz="1800" dirty="0" err="1"/>
              <a:t>Suraqa</a:t>
            </a:r>
            <a:r>
              <a:rPr lang="en-US" sz="1800" dirty="0"/>
              <a:t> was told by anyone the way of two companions. He found them. The Holy Prophet PBUH asked Allah Almighty for his mercy from </a:t>
            </a:r>
            <a:r>
              <a:rPr lang="en-US" sz="1800" dirty="0" err="1"/>
              <a:t>Suraqa</a:t>
            </a:r>
            <a:r>
              <a:rPr lang="en-US" sz="1800" dirty="0"/>
              <a:t>. Suddenly he got </a:t>
            </a:r>
            <a:r>
              <a:rPr lang="en-US" sz="1800" dirty="0" err="1"/>
              <a:t>stucked</a:t>
            </a:r>
            <a:r>
              <a:rPr lang="en-US" sz="1800" dirty="0"/>
              <a:t> till his bally in the ground by the order of Allah Almighty. He cried and asked mercy. The Holy Prophet condoned him.</a:t>
            </a:r>
          </a:p>
        </p:txBody>
      </p:sp>
    </p:spTree>
    <p:extLst>
      <p:ext uri="{BB962C8B-B14F-4D97-AF65-F5344CB8AC3E}">
        <p14:creationId xmlns:p14="http://schemas.microsoft.com/office/powerpoint/2010/main" val="3380978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5711-EA9E-4CF5-B4C4-03816315582A}"/>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Migration to </a:t>
            </a:r>
            <a:r>
              <a:rPr lang="en-US" dirty="0" err="1"/>
              <a:t>Madina</a:t>
            </a:r>
            <a:endParaRPr lang="en-US" dirty="0"/>
          </a:p>
        </p:txBody>
      </p:sp>
      <p:sp>
        <p:nvSpPr>
          <p:cNvPr id="3" name="Content Placeholder 2">
            <a:extLst>
              <a:ext uri="{FF2B5EF4-FFF2-40B4-BE49-F238E27FC236}">
                <a16:creationId xmlns:a16="http://schemas.microsoft.com/office/drawing/2014/main" id="{D8235DFC-FCBA-40DA-B88C-628B26E2D183}"/>
              </a:ext>
            </a:extLst>
          </p:cNvPr>
          <p:cNvSpPr>
            <a:spLocks noGrp="1"/>
          </p:cNvSpPr>
          <p:nvPr>
            <p:ph idx="1"/>
          </p:nvPr>
        </p:nvSpPr>
        <p:spPr/>
        <p:txBody>
          <a:bodyPr>
            <a:normAutofit/>
          </a:bodyPr>
          <a:lstStyle/>
          <a:p>
            <a:r>
              <a:rPr lang="en-US" dirty="0" err="1"/>
              <a:t>Quba</a:t>
            </a:r>
            <a:r>
              <a:rPr lang="en-US" dirty="0"/>
              <a:t> </a:t>
            </a:r>
          </a:p>
          <a:p>
            <a:pPr marL="0" indent="0">
              <a:buNone/>
            </a:pPr>
            <a:r>
              <a:rPr lang="en-US" sz="1800" dirty="0"/>
              <a:t>Well-known tribe situated at southern corner of </a:t>
            </a:r>
            <a:r>
              <a:rPr lang="en-US" sz="1800" dirty="0" err="1"/>
              <a:t>Madina</a:t>
            </a:r>
            <a:r>
              <a:rPr lang="en-US" sz="1800" dirty="0"/>
              <a:t>. Holy Prophet </a:t>
            </a:r>
            <a:r>
              <a:rPr lang="ur-PK" sz="1800" dirty="0"/>
              <a:t>ﷺ</a:t>
            </a:r>
            <a:r>
              <a:rPr lang="en-US" sz="1800" dirty="0"/>
              <a:t> arrived on 8</a:t>
            </a:r>
            <a:r>
              <a:rPr lang="en-US" sz="1800" baseline="30000" dirty="0"/>
              <a:t>th</a:t>
            </a:r>
            <a:r>
              <a:rPr lang="en-US" sz="1800" dirty="0"/>
              <a:t> of Rabi ul </a:t>
            </a:r>
            <a:r>
              <a:rPr lang="en-US" sz="1800" dirty="0" err="1"/>
              <a:t>Awwal</a:t>
            </a:r>
            <a:r>
              <a:rPr lang="en-US" sz="1800" dirty="0"/>
              <a:t>, 19</a:t>
            </a:r>
            <a:r>
              <a:rPr lang="en-US" sz="1800" baseline="30000" dirty="0"/>
              <a:t>th</a:t>
            </a:r>
            <a:r>
              <a:rPr lang="en-US" sz="1800" dirty="0"/>
              <a:t> of September 622 and stayed in </a:t>
            </a:r>
            <a:r>
              <a:rPr lang="en-US" sz="1800" dirty="0" err="1"/>
              <a:t>Quba</a:t>
            </a:r>
            <a:r>
              <a:rPr lang="en-US" sz="1800" dirty="0"/>
              <a:t> fourteen days and constructed the first mosque of Islam named by Masjid-e-</a:t>
            </a:r>
            <a:r>
              <a:rPr lang="en-US" sz="1800" dirty="0" err="1"/>
              <a:t>Quba</a:t>
            </a:r>
            <a:r>
              <a:rPr lang="en-US" sz="1800" dirty="0"/>
              <a:t>.</a:t>
            </a:r>
          </a:p>
          <a:p>
            <a:r>
              <a:rPr lang="en-US" dirty="0"/>
              <a:t>The first Jumma of Islam</a:t>
            </a:r>
          </a:p>
          <a:p>
            <a:pPr marL="0" indent="0">
              <a:buNone/>
            </a:pPr>
            <a:r>
              <a:rPr lang="en-US" sz="1800" dirty="0"/>
              <a:t>The next stop after </a:t>
            </a:r>
            <a:r>
              <a:rPr lang="en-US" sz="1800" dirty="0" err="1"/>
              <a:t>Qub</a:t>
            </a:r>
            <a:r>
              <a:rPr lang="en-US" sz="1800" dirty="0"/>
              <a:t> is </a:t>
            </a:r>
            <a:r>
              <a:rPr lang="en-US" sz="1800" dirty="0" err="1"/>
              <a:t>Muhallah</a:t>
            </a:r>
            <a:r>
              <a:rPr lang="en-US" sz="1800" dirty="0"/>
              <a:t> </a:t>
            </a:r>
            <a:r>
              <a:rPr lang="en-US" sz="1800" dirty="0" err="1"/>
              <a:t>bni</a:t>
            </a:r>
            <a:r>
              <a:rPr lang="en-US" sz="1800" dirty="0"/>
              <a:t> </a:t>
            </a:r>
            <a:r>
              <a:rPr lang="en-US" sz="1800" dirty="0" err="1"/>
              <a:t>Sulaim</a:t>
            </a:r>
            <a:r>
              <a:rPr lang="en-US" sz="1800" dirty="0"/>
              <a:t>. Prophet gave </a:t>
            </a:r>
            <a:r>
              <a:rPr lang="en-US" sz="1800" dirty="0" err="1"/>
              <a:t>khutba</a:t>
            </a:r>
            <a:r>
              <a:rPr lang="en-US" sz="1800" dirty="0"/>
              <a:t> and performed Jumma prayer in </a:t>
            </a:r>
            <a:r>
              <a:rPr lang="en-US" sz="1800" dirty="0" err="1"/>
              <a:t>Muhallah</a:t>
            </a:r>
            <a:r>
              <a:rPr lang="en-US" sz="1800" dirty="0"/>
              <a:t> </a:t>
            </a:r>
            <a:r>
              <a:rPr lang="en-US" sz="1800" dirty="0" err="1"/>
              <a:t>bni</a:t>
            </a:r>
            <a:r>
              <a:rPr lang="en-US" sz="1800" dirty="0"/>
              <a:t> </a:t>
            </a:r>
            <a:r>
              <a:rPr lang="en-US" sz="1800" dirty="0" err="1"/>
              <a:t>Sulaim</a:t>
            </a:r>
            <a:r>
              <a:rPr lang="en-US" sz="1800" dirty="0"/>
              <a:t>.</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50878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A5F922-3DCE-4CAA-8BB1-CF943841B9B8}"/>
              </a:ext>
            </a:extLst>
          </p:cNvPr>
          <p:cNvPicPr>
            <a:picLocks noChangeAspect="1"/>
          </p:cNvPicPr>
          <p:nvPr/>
        </p:nvPicPr>
        <p:blipFill>
          <a:blip r:embed="rId2"/>
          <a:stretch>
            <a:fillRect/>
          </a:stretch>
        </p:blipFill>
        <p:spPr>
          <a:xfrm>
            <a:off x="2047875" y="1285875"/>
            <a:ext cx="8096250" cy="4286250"/>
          </a:xfrm>
          <a:prstGeom prst="rect">
            <a:avLst/>
          </a:prstGeom>
        </p:spPr>
      </p:pic>
    </p:spTree>
    <p:extLst>
      <p:ext uri="{BB962C8B-B14F-4D97-AF65-F5344CB8AC3E}">
        <p14:creationId xmlns:p14="http://schemas.microsoft.com/office/powerpoint/2010/main" val="3543046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C36A9-5C7D-4BC6-AF0E-21975BD77C4B}"/>
              </a:ext>
            </a:extLst>
          </p:cNvPr>
          <p:cNvSpPr>
            <a:spLocks noGrp="1"/>
          </p:cNvSpPr>
          <p:nvPr>
            <p:ph type="title"/>
          </p:nvPr>
        </p:nvSpPr>
        <p:spPr>
          <a:xfrm>
            <a:off x="1295402" y="982132"/>
            <a:ext cx="9601196" cy="1323745"/>
          </a:xfrm>
        </p:spPr>
        <p:txBody>
          <a:bodyPr>
            <a:normAutofit fontScale="90000"/>
          </a:bodyPr>
          <a:lstStyle/>
          <a:p>
            <a:r>
              <a:rPr lang="en-US" dirty="0"/>
              <a:t>LIFE OF HOLY PROPHET </a:t>
            </a:r>
            <a:r>
              <a:rPr lang="ur-PK" dirty="0"/>
              <a:t>ﷺ</a:t>
            </a:r>
            <a:br>
              <a:rPr lang="en-US" dirty="0"/>
            </a:br>
            <a:r>
              <a:rPr lang="en-US" dirty="0"/>
              <a:t>Final Destination Of Migration</a:t>
            </a:r>
          </a:p>
        </p:txBody>
      </p:sp>
      <p:sp>
        <p:nvSpPr>
          <p:cNvPr id="3" name="Content Placeholder 2">
            <a:extLst>
              <a:ext uri="{FF2B5EF4-FFF2-40B4-BE49-F238E27FC236}">
                <a16:creationId xmlns:a16="http://schemas.microsoft.com/office/drawing/2014/main" id="{D20ED4FA-F926-4781-BB7A-23564F103B92}"/>
              </a:ext>
            </a:extLst>
          </p:cNvPr>
          <p:cNvSpPr>
            <a:spLocks noGrp="1"/>
          </p:cNvSpPr>
          <p:nvPr>
            <p:ph idx="1"/>
          </p:nvPr>
        </p:nvSpPr>
        <p:spPr/>
        <p:txBody>
          <a:bodyPr>
            <a:normAutofit lnSpcReduction="10000"/>
          </a:bodyPr>
          <a:lstStyle/>
          <a:p>
            <a:pPr algn="justLow"/>
            <a:r>
              <a:rPr lang="en-US" dirty="0"/>
              <a:t>After Jumma prater Holy Prophet entered in </a:t>
            </a:r>
            <a:r>
              <a:rPr lang="en-US" dirty="0" err="1"/>
              <a:t>Madina</a:t>
            </a:r>
            <a:r>
              <a:rPr lang="en-US" dirty="0"/>
              <a:t> from southern side</a:t>
            </a:r>
          </a:p>
          <a:p>
            <a:pPr algn="justLow"/>
            <a:r>
              <a:rPr lang="en-US" dirty="0" err="1"/>
              <a:t>Ansaar</a:t>
            </a:r>
            <a:r>
              <a:rPr lang="en-US" dirty="0"/>
              <a:t> of </a:t>
            </a:r>
            <a:r>
              <a:rPr lang="en-US" dirty="0" err="1"/>
              <a:t>Madina</a:t>
            </a:r>
            <a:r>
              <a:rPr lang="en-US" dirty="0"/>
              <a:t> were standing on both side of the entrance to welcome and singing the welcome song</a:t>
            </a:r>
            <a:r>
              <a:rPr lang="ur-PK" dirty="0"/>
              <a:t> </a:t>
            </a:r>
            <a:endParaRPr lang="en-US" dirty="0"/>
          </a:p>
          <a:p>
            <a:pPr marL="0" indent="0" algn="ctr">
              <a:buNone/>
            </a:pPr>
            <a:r>
              <a:rPr lang="ur-PK" dirty="0"/>
              <a:t>طلع البدر علینا من ثنیاّت الوداع</a:t>
            </a:r>
            <a:endParaRPr lang="en-US" dirty="0"/>
          </a:p>
          <a:p>
            <a:pPr marL="0" indent="0" algn="ctr">
              <a:buNone/>
            </a:pPr>
            <a:r>
              <a:rPr lang="en-US" dirty="0"/>
              <a:t>The moon is raised on us from the passes of </a:t>
            </a:r>
            <a:r>
              <a:rPr lang="en-US" dirty="0" err="1"/>
              <a:t>Wida</a:t>
            </a:r>
            <a:endParaRPr lang="ur-PK" dirty="0"/>
          </a:p>
          <a:p>
            <a:pPr marL="0" indent="0" algn="ctr">
              <a:buNone/>
            </a:pPr>
            <a:r>
              <a:rPr lang="ur-PK" dirty="0"/>
              <a:t>وجب الشکر علینا ما دعیٰ للہ داع</a:t>
            </a:r>
            <a:endParaRPr lang="en-US" dirty="0"/>
          </a:p>
          <a:p>
            <a:pPr marL="0" indent="0" algn="ctr">
              <a:buNone/>
            </a:pPr>
            <a:r>
              <a:rPr lang="en-US" dirty="0"/>
              <a:t>We have to thank Allah as long as the supplicant is pray</a:t>
            </a:r>
          </a:p>
        </p:txBody>
      </p:sp>
    </p:spTree>
    <p:extLst>
      <p:ext uri="{BB962C8B-B14F-4D97-AF65-F5344CB8AC3E}">
        <p14:creationId xmlns:p14="http://schemas.microsoft.com/office/powerpoint/2010/main" val="869242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B24C1-96AE-4940-B271-B155031A1D1C}"/>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Final Destination Of Migration</a:t>
            </a:r>
          </a:p>
        </p:txBody>
      </p:sp>
      <p:sp>
        <p:nvSpPr>
          <p:cNvPr id="3" name="Content Placeholder 2">
            <a:extLst>
              <a:ext uri="{FF2B5EF4-FFF2-40B4-BE49-F238E27FC236}">
                <a16:creationId xmlns:a16="http://schemas.microsoft.com/office/drawing/2014/main" id="{093A24E3-46A6-4BBE-B92E-7F943A6E477E}"/>
              </a:ext>
            </a:extLst>
          </p:cNvPr>
          <p:cNvSpPr>
            <a:spLocks noGrp="1"/>
          </p:cNvSpPr>
          <p:nvPr>
            <p:ph idx="1"/>
          </p:nvPr>
        </p:nvSpPr>
        <p:spPr/>
        <p:txBody>
          <a:bodyPr>
            <a:normAutofit fontScale="92500" lnSpcReduction="20000"/>
          </a:bodyPr>
          <a:lstStyle/>
          <a:p>
            <a:pPr algn="justLow"/>
            <a:r>
              <a:rPr lang="en-US" dirty="0"/>
              <a:t>The girls of Banu Najjar (mother’s relative) were singing the welcome song </a:t>
            </a:r>
          </a:p>
          <a:p>
            <a:pPr marL="0" indent="0" algn="ctr">
              <a:buNone/>
            </a:pPr>
            <a:r>
              <a:rPr lang="ur-PK" dirty="0"/>
              <a:t>نحن جوار من بنی نجّار</a:t>
            </a:r>
            <a:endParaRPr lang="en-US" dirty="0"/>
          </a:p>
          <a:p>
            <a:pPr marL="0" indent="0" algn="ctr">
              <a:buNone/>
            </a:pPr>
            <a:r>
              <a:rPr lang="en-US" dirty="0"/>
              <a:t>We are from </a:t>
            </a:r>
            <a:r>
              <a:rPr lang="en-US" dirty="0" err="1"/>
              <a:t>Bni</a:t>
            </a:r>
            <a:r>
              <a:rPr lang="en-US" dirty="0"/>
              <a:t> Najjar</a:t>
            </a:r>
            <a:endParaRPr lang="ur-PK" dirty="0"/>
          </a:p>
          <a:p>
            <a:pPr marL="0" indent="0" algn="ctr">
              <a:buNone/>
            </a:pPr>
            <a:r>
              <a:rPr lang="ur-PK" dirty="0"/>
              <a:t>یا حبّذا محمدا من جار</a:t>
            </a:r>
            <a:endParaRPr lang="en-US" dirty="0"/>
          </a:p>
          <a:p>
            <a:pPr marL="0" indent="0" algn="ctr">
              <a:buNone/>
            </a:pPr>
            <a:r>
              <a:rPr lang="en-US" dirty="0"/>
              <a:t>Definitely Muhammad is a best neighbor </a:t>
            </a:r>
          </a:p>
          <a:p>
            <a:r>
              <a:rPr lang="en-US" dirty="0"/>
              <a:t>Holy Prophet said ‘Leave her (camel) on her own, as she knows the will of Allah and Allah’s Prophet </a:t>
            </a:r>
            <a:r>
              <a:rPr lang="ur-PK" dirty="0"/>
              <a:t>ﷺ</a:t>
            </a:r>
            <a:r>
              <a:rPr lang="en-US" dirty="0"/>
              <a:t>. The camel stopped and sat down in front of Abu </a:t>
            </a:r>
            <a:r>
              <a:rPr lang="en-US" dirty="0" err="1"/>
              <a:t>Auyb</a:t>
            </a:r>
            <a:r>
              <a:rPr lang="en-US" dirty="0"/>
              <a:t> </a:t>
            </a:r>
            <a:r>
              <a:rPr lang="en-US" dirty="0" err="1"/>
              <a:t>Ansaari’s</a:t>
            </a:r>
            <a:r>
              <a:rPr lang="en-US" dirty="0"/>
              <a:t> house. Prophet smiled and stayed here nine months. This was the place where now is Masjid-e-</a:t>
            </a:r>
            <a:r>
              <a:rPr lang="en-US" dirty="0" err="1"/>
              <a:t>Nabawi</a:t>
            </a:r>
            <a:r>
              <a:rPr lang="en-US" dirty="0"/>
              <a:t>.</a:t>
            </a:r>
          </a:p>
        </p:txBody>
      </p:sp>
    </p:spTree>
    <p:extLst>
      <p:ext uri="{BB962C8B-B14F-4D97-AF65-F5344CB8AC3E}">
        <p14:creationId xmlns:p14="http://schemas.microsoft.com/office/powerpoint/2010/main" val="126583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E1AE-B28C-4D42-ACAA-EC52B00CDAFB}"/>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In Madinah</a:t>
            </a:r>
          </a:p>
        </p:txBody>
      </p:sp>
      <p:sp>
        <p:nvSpPr>
          <p:cNvPr id="3" name="Content Placeholder 2">
            <a:extLst>
              <a:ext uri="{FF2B5EF4-FFF2-40B4-BE49-F238E27FC236}">
                <a16:creationId xmlns:a16="http://schemas.microsoft.com/office/drawing/2014/main" id="{6BEA3856-369F-4FA0-812D-CA9111EE86CA}"/>
              </a:ext>
            </a:extLst>
          </p:cNvPr>
          <p:cNvSpPr>
            <a:spLocks noGrp="1"/>
          </p:cNvSpPr>
          <p:nvPr>
            <p:ph idx="1"/>
          </p:nvPr>
        </p:nvSpPr>
        <p:spPr>
          <a:xfrm>
            <a:off x="1295401" y="2438399"/>
            <a:ext cx="9601196" cy="3604591"/>
          </a:xfrm>
        </p:spPr>
        <p:txBody>
          <a:bodyPr>
            <a:normAutofit/>
          </a:bodyPr>
          <a:lstStyle/>
          <a:p>
            <a:r>
              <a:rPr lang="en-US" dirty="0"/>
              <a:t>Holy Prophet created brotherhood between </a:t>
            </a:r>
            <a:r>
              <a:rPr lang="en-US" dirty="0" err="1"/>
              <a:t>Muhajirin</a:t>
            </a:r>
            <a:r>
              <a:rPr lang="en-US" dirty="0"/>
              <a:t> and </a:t>
            </a:r>
            <a:r>
              <a:rPr lang="en-US" dirty="0" err="1"/>
              <a:t>Ansaar</a:t>
            </a:r>
            <a:endParaRPr lang="en-US" dirty="0"/>
          </a:p>
          <a:p>
            <a:r>
              <a:rPr lang="en-US" dirty="0"/>
              <a:t>Islam is a religion of brotherhood. Allah says</a:t>
            </a:r>
            <a:endParaRPr lang="ur-PK" dirty="0"/>
          </a:p>
          <a:p>
            <a:pPr marL="0" indent="0" algn="ctr">
              <a:buNone/>
            </a:pPr>
            <a:r>
              <a:rPr lang="ur-PK" dirty="0">
                <a:latin typeface="Traditional Arabic" panose="02020603050405020304" pitchFamily="18" charset="-78"/>
                <a:cs typeface="Traditional Arabic" panose="02020603050405020304" pitchFamily="18" charset="-78"/>
              </a:rPr>
              <a:t>انما المؤمنون اخوۃ</a:t>
            </a:r>
          </a:p>
          <a:p>
            <a:pPr marL="0" indent="0">
              <a:buNone/>
            </a:pPr>
            <a:r>
              <a:rPr lang="en-US" dirty="0">
                <a:latin typeface="Traditional Arabic" panose="02020603050405020304" pitchFamily="18" charset="-78"/>
                <a:cs typeface="Traditional Arabic" panose="02020603050405020304" pitchFamily="18" charset="-78"/>
              </a:rPr>
              <a:t>In an other place says</a:t>
            </a:r>
          </a:p>
          <a:p>
            <a:pPr marL="0" indent="0" algn="ctr">
              <a:buNone/>
            </a:pPr>
            <a:r>
              <a:rPr lang="ar-SA" dirty="0">
                <a:latin typeface="Traditional Arabic" panose="02020603050405020304" pitchFamily="18" charset="-78"/>
                <a:cs typeface="Traditional Arabic" panose="02020603050405020304" pitchFamily="18" charset="-78"/>
              </a:rPr>
              <a:t>وَأَلَّفَ بَيۡنَ قُلُوبِهِمۡۚ لَوۡ أَنفَقۡتَ مَا فِي ٱلۡأَرۡضِ جَمِيعا مَّآ أَلَّفۡتَ بَيۡنَ قُلُوبِهِمۡ وَلَٰكِنَّ ٱللَّهَ أَلَّفَ بَيۡنَهُمۡۚ</a:t>
            </a:r>
            <a:endParaRPr lang="en-US" dirty="0">
              <a:latin typeface="Traditional Arabic" panose="02020603050405020304" pitchFamily="18" charset="-78"/>
              <a:cs typeface="Traditional Arabic" panose="02020603050405020304" pitchFamily="18" charset="-78"/>
            </a:endParaRPr>
          </a:p>
          <a:p>
            <a:pPr marL="0" indent="0" algn="ctr">
              <a:buNone/>
            </a:pPr>
            <a:r>
              <a:rPr lang="en-US" sz="1800" dirty="0"/>
              <a:t>And he has united their hearts. If you had spent all that is in the earth, </a:t>
            </a:r>
          </a:p>
          <a:p>
            <a:pPr marL="0" indent="0" algn="ctr">
              <a:buNone/>
            </a:pPr>
            <a:r>
              <a:rPr lang="en-US" sz="1800" dirty="0"/>
              <a:t>you could not have united their hearts.</a:t>
            </a:r>
          </a:p>
        </p:txBody>
      </p:sp>
    </p:spTree>
    <p:extLst>
      <p:ext uri="{BB962C8B-B14F-4D97-AF65-F5344CB8AC3E}">
        <p14:creationId xmlns:p14="http://schemas.microsoft.com/office/powerpoint/2010/main" val="339762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79DC-7EA2-4D33-A197-64BE45EB17D3}"/>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In Madinah</a:t>
            </a:r>
          </a:p>
        </p:txBody>
      </p:sp>
      <p:sp>
        <p:nvSpPr>
          <p:cNvPr id="3" name="Content Placeholder 2">
            <a:extLst>
              <a:ext uri="{FF2B5EF4-FFF2-40B4-BE49-F238E27FC236}">
                <a16:creationId xmlns:a16="http://schemas.microsoft.com/office/drawing/2014/main" id="{4FE5438F-E938-4480-BF89-E84B0C26EA73}"/>
              </a:ext>
            </a:extLst>
          </p:cNvPr>
          <p:cNvSpPr>
            <a:spLocks noGrp="1"/>
          </p:cNvSpPr>
          <p:nvPr>
            <p:ph idx="1"/>
          </p:nvPr>
        </p:nvSpPr>
        <p:spPr/>
        <p:txBody>
          <a:bodyPr>
            <a:normAutofit fontScale="92500" lnSpcReduction="20000"/>
          </a:bodyPr>
          <a:lstStyle/>
          <a:p>
            <a:pPr marL="0" indent="0">
              <a:buNone/>
            </a:pPr>
            <a:r>
              <a:rPr lang="en-US" dirty="0"/>
              <a:t>Number of groups in </a:t>
            </a:r>
            <a:r>
              <a:rPr lang="en-US" dirty="0" err="1"/>
              <a:t>Madina</a:t>
            </a:r>
            <a:r>
              <a:rPr lang="en-US" dirty="0"/>
              <a:t> at the time of Migration</a:t>
            </a:r>
          </a:p>
          <a:p>
            <a:pPr lvl="1">
              <a:buFont typeface="Wingdings" panose="05000000000000000000" pitchFamily="2" charset="2"/>
              <a:buChar char="Ø"/>
            </a:pPr>
            <a:r>
              <a:rPr lang="en-US" dirty="0" err="1"/>
              <a:t>Ansaars</a:t>
            </a:r>
            <a:r>
              <a:rPr lang="ur-PK" dirty="0"/>
              <a:t> </a:t>
            </a:r>
            <a:r>
              <a:rPr lang="en-US" dirty="0"/>
              <a:t> (</a:t>
            </a:r>
            <a:r>
              <a:rPr lang="ur-PK" dirty="0">
                <a:latin typeface="Jameel Noori Nastaleeq" panose="02000503000000020004" pitchFamily="2" charset="-78"/>
                <a:cs typeface="Jameel Noori Nastaleeq" panose="02000503000000020004" pitchFamily="2" charset="-78"/>
              </a:rPr>
              <a:t>انصار</a:t>
            </a:r>
            <a:r>
              <a:rPr lang="en-US" dirty="0"/>
              <a:t>)</a:t>
            </a:r>
          </a:p>
          <a:p>
            <a:pPr lvl="2"/>
            <a:r>
              <a:rPr lang="en-US" dirty="0" err="1"/>
              <a:t>Ous</a:t>
            </a:r>
            <a:r>
              <a:rPr lang="en-US" dirty="0"/>
              <a:t> (</a:t>
            </a:r>
            <a:r>
              <a:rPr lang="ur-PK" dirty="0">
                <a:latin typeface="Jameel Noori Nastaleeq" panose="02000503000000020004" pitchFamily="2" charset="-78"/>
                <a:cs typeface="Jameel Noori Nastaleeq" panose="02000503000000020004" pitchFamily="2" charset="-78"/>
              </a:rPr>
              <a:t>اوس</a:t>
            </a:r>
            <a:r>
              <a:rPr lang="en-US" dirty="0"/>
              <a:t>)</a:t>
            </a:r>
          </a:p>
          <a:p>
            <a:pPr lvl="2"/>
            <a:r>
              <a:rPr lang="en-US" dirty="0" err="1"/>
              <a:t>Khazraj</a:t>
            </a:r>
            <a:r>
              <a:rPr lang="en-US" dirty="0"/>
              <a:t> (</a:t>
            </a:r>
            <a:r>
              <a:rPr lang="ur-PK" dirty="0">
                <a:latin typeface="Jameel Noori Nastaleeq" panose="02000503000000020004" pitchFamily="2" charset="-78"/>
                <a:cs typeface="Jameel Noori Nastaleeq" panose="02000503000000020004" pitchFamily="2" charset="-78"/>
              </a:rPr>
              <a:t>خزرج</a:t>
            </a:r>
            <a:r>
              <a:rPr lang="en-US" dirty="0"/>
              <a:t>)</a:t>
            </a:r>
          </a:p>
          <a:p>
            <a:pPr lvl="1">
              <a:buFont typeface="Wingdings" panose="05000000000000000000" pitchFamily="2" charset="2"/>
              <a:buChar char="Ø"/>
            </a:pPr>
            <a:r>
              <a:rPr lang="en-US" dirty="0" err="1"/>
              <a:t>Muhajirin</a:t>
            </a:r>
            <a:r>
              <a:rPr lang="en-US" dirty="0"/>
              <a:t> </a:t>
            </a:r>
            <a:endParaRPr lang="ur-PK" dirty="0"/>
          </a:p>
          <a:p>
            <a:pPr lvl="1">
              <a:buFont typeface="Wingdings" panose="05000000000000000000" pitchFamily="2" charset="2"/>
              <a:buChar char="Ø"/>
            </a:pPr>
            <a:r>
              <a:rPr lang="en-US" dirty="0"/>
              <a:t>Jews </a:t>
            </a:r>
          </a:p>
          <a:p>
            <a:pPr lvl="2">
              <a:buFont typeface="Arial" panose="020B0604020202020204" pitchFamily="34" charset="0"/>
              <a:buChar char="•"/>
            </a:pPr>
            <a:r>
              <a:rPr lang="en-US" dirty="0"/>
              <a:t>Banu Nazeer (</a:t>
            </a:r>
            <a:r>
              <a:rPr lang="ur-PK" dirty="0">
                <a:latin typeface="Jameel Noori Nastaleeq" panose="02000503000000020004" pitchFamily="2" charset="-78"/>
                <a:cs typeface="Jameel Noori Nastaleeq" panose="02000503000000020004" pitchFamily="2" charset="-78"/>
              </a:rPr>
              <a:t>بنو نظیر</a:t>
            </a:r>
            <a:r>
              <a:rPr lang="en-US" dirty="0"/>
              <a:t>)</a:t>
            </a:r>
          </a:p>
          <a:p>
            <a:pPr lvl="2">
              <a:buFont typeface="Arial" panose="020B0604020202020204" pitchFamily="34" charset="0"/>
              <a:buChar char="•"/>
            </a:pPr>
            <a:r>
              <a:rPr lang="en-US" dirty="0"/>
              <a:t>Banu </a:t>
            </a:r>
            <a:r>
              <a:rPr lang="en-US" dirty="0" err="1"/>
              <a:t>Qenuqa</a:t>
            </a:r>
            <a:r>
              <a:rPr lang="en-US" dirty="0"/>
              <a:t> (</a:t>
            </a:r>
            <a:r>
              <a:rPr lang="ur-PK" dirty="0">
                <a:latin typeface="Jameel Noori Nastaleeq" panose="02000503000000020004" pitchFamily="2" charset="-78"/>
                <a:cs typeface="Jameel Noori Nastaleeq" panose="02000503000000020004" pitchFamily="2" charset="-78"/>
              </a:rPr>
              <a:t>بنو قینقاع</a:t>
            </a:r>
            <a:r>
              <a:rPr lang="en-US" dirty="0"/>
              <a:t>)</a:t>
            </a:r>
          </a:p>
          <a:p>
            <a:pPr lvl="2">
              <a:buFont typeface="Arial" panose="020B0604020202020204" pitchFamily="34" charset="0"/>
              <a:buChar char="•"/>
            </a:pPr>
            <a:r>
              <a:rPr lang="en-US" dirty="0"/>
              <a:t>Banu </a:t>
            </a:r>
            <a:r>
              <a:rPr lang="en-US" dirty="0" err="1"/>
              <a:t>Quraizah</a:t>
            </a:r>
            <a:r>
              <a:rPr lang="en-US" dirty="0"/>
              <a:t> (</a:t>
            </a:r>
            <a:r>
              <a:rPr lang="ur-PK" dirty="0">
                <a:latin typeface="Jameel Noori Nastaleeq" panose="02000503000000020004" pitchFamily="2" charset="-78"/>
                <a:cs typeface="Jameel Noori Nastaleeq" panose="02000503000000020004" pitchFamily="2" charset="-78"/>
              </a:rPr>
              <a:t>بنو قریظہ</a:t>
            </a:r>
            <a:r>
              <a:rPr lang="en-US" dirty="0"/>
              <a:t>)</a:t>
            </a:r>
          </a:p>
        </p:txBody>
      </p:sp>
    </p:spTree>
    <p:extLst>
      <p:ext uri="{BB962C8B-B14F-4D97-AF65-F5344CB8AC3E}">
        <p14:creationId xmlns:p14="http://schemas.microsoft.com/office/powerpoint/2010/main" val="1472327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6CEB64-CAA5-49A1-8DD3-D3BC5E2D0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486" y="876574"/>
            <a:ext cx="8066147" cy="5126659"/>
          </a:xfrm>
          <a:prstGeom prst="rect">
            <a:avLst/>
          </a:prstGeom>
        </p:spPr>
      </p:pic>
      <p:sp>
        <p:nvSpPr>
          <p:cNvPr id="4" name="Rectangle: Rounded Corners 3">
            <a:extLst>
              <a:ext uri="{FF2B5EF4-FFF2-40B4-BE49-F238E27FC236}">
                <a16:creationId xmlns:a16="http://schemas.microsoft.com/office/drawing/2014/main" id="{8A202136-392E-45E6-9E52-E0297CD63335}"/>
              </a:ext>
            </a:extLst>
          </p:cNvPr>
          <p:cNvSpPr/>
          <p:nvPr/>
        </p:nvSpPr>
        <p:spPr>
          <a:xfrm>
            <a:off x="781878" y="2120347"/>
            <a:ext cx="1987826" cy="9541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Bnu</a:t>
            </a:r>
            <a:r>
              <a:rPr lang="en-US" sz="2400" dirty="0"/>
              <a:t> </a:t>
            </a:r>
            <a:r>
              <a:rPr lang="en-US" sz="2400" dirty="0" err="1"/>
              <a:t>Quraiza’s</a:t>
            </a:r>
            <a:r>
              <a:rPr lang="en-US" sz="2400" dirty="0"/>
              <a:t> </a:t>
            </a:r>
            <a:r>
              <a:rPr lang="en-US" sz="2400" dirty="0" err="1"/>
              <a:t>Riuns</a:t>
            </a:r>
            <a:endParaRPr lang="en-US" sz="2400" dirty="0"/>
          </a:p>
        </p:txBody>
      </p:sp>
    </p:spTree>
    <p:extLst>
      <p:ext uri="{BB962C8B-B14F-4D97-AF65-F5344CB8AC3E}">
        <p14:creationId xmlns:p14="http://schemas.microsoft.com/office/powerpoint/2010/main" val="4097458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6E54D4-05A2-4A6E-B2D4-CBC3078CC1C3}"/>
              </a:ext>
            </a:extLst>
          </p:cNvPr>
          <p:cNvPicPr>
            <a:picLocks noChangeAspect="1"/>
          </p:cNvPicPr>
          <p:nvPr/>
        </p:nvPicPr>
        <p:blipFill>
          <a:blip r:embed="rId2"/>
          <a:stretch>
            <a:fillRect/>
          </a:stretch>
        </p:blipFill>
        <p:spPr>
          <a:xfrm>
            <a:off x="3228975" y="1258957"/>
            <a:ext cx="7704068" cy="4465982"/>
          </a:xfrm>
          <a:prstGeom prst="rect">
            <a:avLst/>
          </a:prstGeom>
        </p:spPr>
      </p:pic>
      <p:sp>
        <p:nvSpPr>
          <p:cNvPr id="3" name="Rectangle: Rounded Corners 2">
            <a:extLst>
              <a:ext uri="{FF2B5EF4-FFF2-40B4-BE49-F238E27FC236}">
                <a16:creationId xmlns:a16="http://schemas.microsoft.com/office/drawing/2014/main" id="{A4AAC035-A14F-4F0A-968B-2BE8BD7122DE}"/>
              </a:ext>
            </a:extLst>
          </p:cNvPr>
          <p:cNvSpPr/>
          <p:nvPr/>
        </p:nvSpPr>
        <p:spPr>
          <a:xfrm>
            <a:off x="874643" y="1815548"/>
            <a:ext cx="2160105" cy="9806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Bnu</a:t>
            </a:r>
            <a:r>
              <a:rPr lang="en-US" sz="2400" dirty="0"/>
              <a:t> </a:t>
            </a:r>
            <a:r>
              <a:rPr lang="en-US" sz="2400" dirty="0" err="1"/>
              <a:t>Quraiza’s</a:t>
            </a:r>
            <a:r>
              <a:rPr lang="en-US" sz="2400" dirty="0"/>
              <a:t> </a:t>
            </a:r>
            <a:r>
              <a:rPr lang="en-US" sz="2400" dirty="0" err="1"/>
              <a:t>Riuns</a:t>
            </a:r>
            <a:endParaRPr lang="en-US" sz="2400" dirty="0"/>
          </a:p>
        </p:txBody>
      </p:sp>
    </p:spTree>
    <p:extLst>
      <p:ext uri="{BB962C8B-B14F-4D97-AF65-F5344CB8AC3E}">
        <p14:creationId xmlns:p14="http://schemas.microsoft.com/office/powerpoint/2010/main" val="350215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D04614-64F8-44EA-901A-CC6D5EC88327}"/>
              </a:ext>
            </a:extLst>
          </p:cNvPr>
          <p:cNvPicPr>
            <a:picLocks noChangeAspect="1"/>
          </p:cNvPicPr>
          <p:nvPr/>
        </p:nvPicPr>
        <p:blipFill>
          <a:blip r:embed="rId2"/>
          <a:stretch>
            <a:fillRect/>
          </a:stretch>
        </p:blipFill>
        <p:spPr>
          <a:xfrm>
            <a:off x="3476419" y="1033670"/>
            <a:ext cx="7218087" cy="4744277"/>
          </a:xfrm>
          <a:prstGeom prst="rect">
            <a:avLst/>
          </a:prstGeom>
        </p:spPr>
      </p:pic>
      <p:sp>
        <p:nvSpPr>
          <p:cNvPr id="3" name="Rectangle: Rounded Corners 2">
            <a:extLst>
              <a:ext uri="{FF2B5EF4-FFF2-40B4-BE49-F238E27FC236}">
                <a16:creationId xmlns:a16="http://schemas.microsoft.com/office/drawing/2014/main" id="{5505027F-C0A1-4B4E-8159-C1F6CF8AB227}"/>
              </a:ext>
            </a:extLst>
          </p:cNvPr>
          <p:cNvSpPr/>
          <p:nvPr/>
        </p:nvSpPr>
        <p:spPr>
          <a:xfrm>
            <a:off x="1007165" y="1934817"/>
            <a:ext cx="1974574" cy="9276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Bnu</a:t>
            </a:r>
            <a:r>
              <a:rPr lang="en-US" sz="2400" dirty="0"/>
              <a:t> Nazeer’s Fort</a:t>
            </a:r>
          </a:p>
        </p:txBody>
      </p:sp>
    </p:spTree>
    <p:extLst>
      <p:ext uri="{BB962C8B-B14F-4D97-AF65-F5344CB8AC3E}">
        <p14:creationId xmlns:p14="http://schemas.microsoft.com/office/powerpoint/2010/main" val="3731582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C47413-3F34-4B38-9C37-72042B6E8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0884" y="904875"/>
            <a:ext cx="7620000" cy="5048250"/>
          </a:xfrm>
          <a:prstGeom prst="rect">
            <a:avLst/>
          </a:prstGeom>
        </p:spPr>
      </p:pic>
      <p:sp>
        <p:nvSpPr>
          <p:cNvPr id="4" name="Rectangle: Rounded Corners 3">
            <a:extLst>
              <a:ext uri="{FF2B5EF4-FFF2-40B4-BE49-F238E27FC236}">
                <a16:creationId xmlns:a16="http://schemas.microsoft.com/office/drawing/2014/main" id="{2F39742D-499C-46F4-AA46-48CE42ABE9E7}"/>
              </a:ext>
            </a:extLst>
          </p:cNvPr>
          <p:cNvSpPr/>
          <p:nvPr/>
        </p:nvSpPr>
        <p:spPr>
          <a:xfrm>
            <a:off x="781880" y="1789042"/>
            <a:ext cx="2080591" cy="8613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Khayber’s</a:t>
            </a:r>
            <a:r>
              <a:rPr lang="en-US" sz="2400" dirty="0"/>
              <a:t> Fort</a:t>
            </a:r>
          </a:p>
        </p:txBody>
      </p:sp>
    </p:spTree>
    <p:extLst>
      <p:ext uri="{BB962C8B-B14F-4D97-AF65-F5344CB8AC3E}">
        <p14:creationId xmlns:p14="http://schemas.microsoft.com/office/powerpoint/2010/main" val="3501081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5361B8-6F96-428F-B345-E05CC10BE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088" y="1007167"/>
            <a:ext cx="7275443" cy="4850296"/>
          </a:xfrm>
          <a:prstGeom prst="rect">
            <a:avLst/>
          </a:prstGeom>
        </p:spPr>
      </p:pic>
      <p:sp>
        <p:nvSpPr>
          <p:cNvPr id="4" name="Rectangle: Rounded Corners 3">
            <a:extLst>
              <a:ext uri="{FF2B5EF4-FFF2-40B4-BE49-F238E27FC236}">
                <a16:creationId xmlns:a16="http://schemas.microsoft.com/office/drawing/2014/main" id="{CA55B36E-0DD9-46C5-9A57-C9E42E599C7F}"/>
              </a:ext>
            </a:extLst>
          </p:cNvPr>
          <p:cNvSpPr/>
          <p:nvPr/>
        </p:nvSpPr>
        <p:spPr>
          <a:xfrm>
            <a:off x="887897" y="1669772"/>
            <a:ext cx="2372140" cy="8613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Khayber’s</a:t>
            </a:r>
            <a:r>
              <a:rPr lang="en-US" sz="2400" dirty="0"/>
              <a:t> Fort</a:t>
            </a:r>
          </a:p>
        </p:txBody>
      </p:sp>
    </p:spTree>
    <p:extLst>
      <p:ext uri="{BB962C8B-B14F-4D97-AF65-F5344CB8AC3E}">
        <p14:creationId xmlns:p14="http://schemas.microsoft.com/office/powerpoint/2010/main" val="3153674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8973D-D7D2-4929-A608-CFECAB399352}"/>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en-US" dirty="0"/>
            </a:br>
            <a:r>
              <a:rPr lang="en-US" dirty="0" err="1"/>
              <a:t>Sulah</a:t>
            </a:r>
            <a:r>
              <a:rPr lang="en-US" dirty="0"/>
              <a:t> </a:t>
            </a:r>
            <a:r>
              <a:rPr lang="en-US" dirty="0" err="1"/>
              <a:t>Hudaibya</a:t>
            </a:r>
            <a:endParaRPr lang="en-US" dirty="0"/>
          </a:p>
        </p:txBody>
      </p:sp>
      <p:sp>
        <p:nvSpPr>
          <p:cNvPr id="3" name="Content Placeholder 2">
            <a:extLst>
              <a:ext uri="{FF2B5EF4-FFF2-40B4-BE49-F238E27FC236}">
                <a16:creationId xmlns:a16="http://schemas.microsoft.com/office/drawing/2014/main" id="{5CE416CE-FE74-4B78-86CD-D2EDD50AB620}"/>
              </a:ext>
            </a:extLst>
          </p:cNvPr>
          <p:cNvSpPr>
            <a:spLocks noGrp="1"/>
          </p:cNvSpPr>
          <p:nvPr>
            <p:ph idx="1"/>
          </p:nvPr>
        </p:nvSpPr>
        <p:spPr>
          <a:xfrm>
            <a:off x="1295401" y="2451652"/>
            <a:ext cx="9601196" cy="3670852"/>
          </a:xfrm>
        </p:spPr>
        <p:txBody>
          <a:bodyPr>
            <a:normAutofit/>
          </a:bodyPr>
          <a:lstStyle/>
          <a:p>
            <a:r>
              <a:rPr lang="en-US" dirty="0"/>
              <a:t>Holy Prophet </a:t>
            </a:r>
            <a:r>
              <a:rPr lang="ur-PK" dirty="0"/>
              <a:t>ﷺ</a:t>
            </a:r>
            <a:r>
              <a:rPr lang="en-US" dirty="0"/>
              <a:t> dreamed to do Umrah in 6</a:t>
            </a:r>
            <a:r>
              <a:rPr lang="en-US" baseline="30000" dirty="0"/>
              <a:t>th</a:t>
            </a:r>
            <a:r>
              <a:rPr lang="en-US" dirty="0"/>
              <a:t> year of </a:t>
            </a:r>
            <a:r>
              <a:rPr lang="en-US" dirty="0" err="1"/>
              <a:t>hijrah</a:t>
            </a:r>
            <a:r>
              <a:rPr lang="en-US" dirty="0"/>
              <a:t> and informed his companions.</a:t>
            </a:r>
          </a:p>
          <a:p>
            <a:r>
              <a:rPr lang="en-US" dirty="0"/>
              <a:t>Holy Prophet </a:t>
            </a:r>
            <a:r>
              <a:rPr lang="ur-PK" dirty="0"/>
              <a:t>ﷺ</a:t>
            </a:r>
            <a:r>
              <a:rPr lang="en-US" dirty="0"/>
              <a:t> left </a:t>
            </a:r>
            <a:r>
              <a:rPr lang="en-US" dirty="0" err="1"/>
              <a:t>Madina</a:t>
            </a:r>
            <a:r>
              <a:rPr lang="en-US" dirty="0"/>
              <a:t> with fourteen hundred companions for going to Makkah</a:t>
            </a:r>
          </a:p>
          <a:p>
            <a:r>
              <a:rPr lang="en-US" dirty="0"/>
              <a:t>Polytheist got news, gathered army and appointed them on different entrance of Makkah</a:t>
            </a:r>
          </a:p>
          <a:p>
            <a:r>
              <a:rPr lang="en-US" dirty="0" err="1"/>
              <a:t>Budail</a:t>
            </a:r>
            <a:r>
              <a:rPr lang="en-US" dirty="0"/>
              <a:t> Bin </a:t>
            </a:r>
            <a:r>
              <a:rPr lang="en-US" dirty="0" err="1"/>
              <a:t>Warqa</a:t>
            </a:r>
            <a:r>
              <a:rPr lang="en-US" dirty="0"/>
              <a:t> </a:t>
            </a:r>
            <a:r>
              <a:rPr lang="en-US" dirty="0" err="1"/>
              <a:t>Khuzaie</a:t>
            </a:r>
            <a:r>
              <a:rPr lang="en-US" dirty="0"/>
              <a:t> </a:t>
            </a:r>
            <a:r>
              <a:rPr lang="ur-PK" dirty="0">
                <a:latin typeface="Jameel Noori Nastaleeq" panose="02000503000000020004" pitchFamily="2" charset="-78"/>
                <a:cs typeface="Jameel Noori Nastaleeq" panose="02000503000000020004" pitchFamily="2" charset="-78"/>
              </a:rPr>
              <a:t>بُدیل بن ورقاء خزاعی</a:t>
            </a:r>
            <a:r>
              <a:rPr lang="en-US" dirty="0">
                <a:latin typeface="Jameel Noori Nastaleeq" panose="02000503000000020004" pitchFamily="2" charset="-78"/>
                <a:cs typeface="Jameel Noori Nastaleeq" panose="02000503000000020004" pitchFamily="2" charset="-78"/>
              </a:rPr>
              <a:t> </a:t>
            </a:r>
            <a:r>
              <a:rPr lang="en-US" dirty="0"/>
              <a:t>(ally of Muslims)</a:t>
            </a:r>
            <a:r>
              <a:rPr lang="ur-PK" dirty="0"/>
              <a:t> </a:t>
            </a:r>
            <a:r>
              <a:rPr lang="en-US" dirty="0"/>
              <a:t>as a ambassador of Prophet </a:t>
            </a:r>
          </a:p>
          <a:p>
            <a:endParaRPr lang="en-US" dirty="0"/>
          </a:p>
          <a:p>
            <a:endParaRPr lang="en-US" dirty="0"/>
          </a:p>
          <a:p>
            <a:endParaRPr lang="en-US" dirty="0"/>
          </a:p>
        </p:txBody>
      </p:sp>
    </p:spTree>
    <p:extLst>
      <p:ext uri="{BB962C8B-B14F-4D97-AF65-F5344CB8AC3E}">
        <p14:creationId xmlns:p14="http://schemas.microsoft.com/office/powerpoint/2010/main" val="602606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13E2B-96DE-4201-8B9C-A5356B1E135E}"/>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en-US" dirty="0"/>
            </a:br>
            <a:r>
              <a:rPr lang="en-US" dirty="0" err="1"/>
              <a:t>Sulah</a:t>
            </a:r>
            <a:r>
              <a:rPr lang="en-US" dirty="0"/>
              <a:t> </a:t>
            </a:r>
            <a:r>
              <a:rPr lang="en-US" dirty="0" err="1"/>
              <a:t>Hudaibya</a:t>
            </a:r>
            <a:endParaRPr lang="en-US" dirty="0"/>
          </a:p>
        </p:txBody>
      </p:sp>
      <p:sp>
        <p:nvSpPr>
          <p:cNvPr id="3" name="Content Placeholder 2">
            <a:extLst>
              <a:ext uri="{FF2B5EF4-FFF2-40B4-BE49-F238E27FC236}">
                <a16:creationId xmlns:a16="http://schemas.microsoft.com/office/drawing/2014/main" id="{B77928F6-025E-4801-B7DA-61C3F1061A6E}"/>
              </a:ext>
            </a:extLst>
          </p:cNvPr>
          <p:cNvSpPr>
            <a:spLocks noGrp="1"/>
          </p:cNvSpPr>
          <p:nvPr>
            <p:ph idx="1"/>
          </p:nvPr>
        </p:nvSpPr>
        <p:spPr/>
        <p:txBody>
          <a:bodyPr/>
          <a:lstStyle/>
          <a:p>
            <a:r>
              <a:rPr lang="en-US" dirty="0" err="1"/>
              <a:t>Urwa</a:t>
            </a:r>
            <a:r>
              <a:rPr lang="en-US" dirty="0"/>
              <a:t> bin Masood </a:t>
            </a:r>
            <a:r>
              <a:rPr lang="en-US" dirty="0" err="1"/>
              <a:t>Saqafi</a:t>
            </a:r>
            <a:r>
              <a:rPr lang="en-US" dirty="0"/>
              <a:t> </a:t>
            </a:r>
            <a:r>
              <a:rPr lang="ur-PK" dirty="0"/>
              <a:t>(</a:t>
            </a:r>
            <a:r>
              <a:rPr lang="ur-PK" dirty="0">
                <a:latin typeface="Jameel Noori Nastaleeq" panose="02000503000000020004" pitchFamily="2" charset="-78"/>
                <a:cs typeface="Jameel Noori Nastaleeq" panose="02000503000000020004" pitchFamily="2" charset="-78"/>
              </a:rPr>
              <a:t>عروۃ بن مسعود ثقفی</a:t>
            </a:r>
            <a:r>
              <a:rPr lang="ur-PK" dirty="0"/>
              <a:t>)</a:t>
            </a:r>
            <a:r>
              <a:rPr lang="en-US" dirty="0"/>
              <a:t> as ambassador of Polytheist</a:t>
            </a:r>
          </a:p>
          <a:p>
            <a:r>
              <a:rPr lang="en-US" dirty="0"/>
              <a:t>Usman bin </a:t>
            </a:r>
            <a:r>
              <a:rPr lang="en-US" dirty="0" err="1"/>
              <a:t>Affan</a:t>
            </a:r>
            <a:r>
              <a:rPr lang="en-US" dirty="0"/>
              <a:t> as ambassador of Prophet </a:t>
            </a:r>
            <a:r>
              <a:rPr lang="ur-PK" dirty="0"/>
              <a:t>ﷺ</a:t>
            </a:r>
            <a:r>
              <a:rPr lang="en-US" dirty="0"/>
              <a:t>. Rumors of his assassination</a:t>
            </a:r>
          </a:p>
          <a:p>
            <a:r>
              <a:rPr lang="en-US" dirty="0"/>
              <a:t>Bait-e-Rizwan</a:t>
            </a:r>
          </a:p>
          <a:p>
            <a:r>
              <a:rPr lang="en-US" dirty="0"/>
              <a:t>Suhail bin Amr as ambassador of Polytheist. When the prophet saw him made a good fortune from his name.</a:t>
            </a:r>
          </a:p>
          <a:p>
            <a:r>
              <a:rPr lang="en-US" dirty="0"/>
              <a:t>Ali  has wrote the treaty</a:t>
            </a:r>
          </a:p>
          <a:p>
            <a:pPr marL="0" indent="0">
              <a:buNone/>
            </a:pPr>
            <a:endParaRPr lang="en-US" dirty="0"/>
          </a:p>
        </p:txBody>
      </p:sp>
    </p:spTree>
    <p:extLst>
      <p:ext uri="{BB962C8B-B14F-4D97-AF65-F5344CB8AC3E}">
        <p14:creationId xmlns:p14="http://schemas.microsoft.com/office/powerpoint/2010/main" val="3878589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58AF-9C90-4AEE-8236-FE5775B1D209}"/>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en-US" dirty="0"/>
            </a:br>
            <a:r>
              <a:rPr lang="en-US" dirty="0" err="1"/>
              <a:t>Sulah</a:t>
            </a:r>
            <a:r>
              <a:rPr lang="en-US" dirty="0"/>
              <a:t> </a:t>
            </a:r>
            <a:r>
              <a:rPr lang="en-US" dirty="0" err="1"/>
              <a:t>Hudaibya</a:t>
            </a:r>
            <a:endParaRPr lang="en-US" dirty="0"/>
          </a:p>
        </p:txBody>
      </p:sp>
      <p:sp>
        <p:nvSpPr>
          <p:cNvPr id="3" name="Content Placeholder 2">
            <a:extLst>
              <a:ext uri="{FF2B5EF4-FFF2-40B4-BE49-F238E27FC236}">
                <a16:creationId xmlns:a16="http://schemas.microsoft.com/office/drawing/2014/main" id="{B5B9CBA0-8BEF-49C6-A73D-53F3F3F7B681}"/>
              </a:ext>
            </a:extLst>
          </p:cNvPr>
          <p:cNvSpPr>
            <a:spLocks noGrp="1"/>
          </p:cNvSpPr>
          <p:nvPr>
            <p:ph idx="1"/>
          </p:nvPr>
        </p:nvSpPr>
        <p:spPr/>
        <p:txBody>
          <a:bodyPr>
            <a:noAutofit/>
          </a:bodyPr>
          <a:lstStyle/>
          <a:p>
            <a:r>
              <a:rPr lang="en-US" sz="2000" dirty="0"/>
              <a:t>There should be peace between the Muslims and the Quraish for a period of 10 years.</a:t>
            </a:r>
          </a:p>
          <a:p>
            <a:r>
              <a:rPr lang="en-US" sz="2000" dirty="0"/>
              <a:t>The Muslims will return to Madinah without performing Umrah this year.</a:t>
            </a:r>
          </a:p>
          <a:p>
            <a:r>
              <a:rPr lang="en-US" sz="2000" dirty="0"/>
              <a:t>The Muslims should be able to perform Umrah next year with a stay of three days in Makkah.</a:t>
            </a:r>
          </a:p>
          <a:p>
            <a:r>
              <a:rPr lang="en-US" sz="2000" dirty="0"/>
              <a:t>The Muslims will only be armed with Swords and those swords will be hidden underneath sheaths.</a:t>
            </a:r>
          </a:p>
          <a:p>
            <a:r>
              <a:rPr lang="en-US" sz="2000" dirty="0"/>
              <a:t>If a person migrates to </a:t>
            </a:r>
            <a:r>
              <a:rPr lang="en-US" sz="2000" dirty="0" err="1"/>
              <a:t>Madina</a:t>
            </a:r>
            <a:r>
              <a:rPr lang="en-US" sz="2000" dirty="0"/>
              <a:t>, he will be returned. If a person migrates to Makkah, he will not be returned.</a:t>
            </a:r>
          </a:p>
          <a:p>
            <a:r>
              <a:rPr lang="en-US" sz="2000" dirty="0"/>
              <a:t>Tribes of Arabia are free to take any side they want.</a:t>
            </a:r>
          </a:p>
        </p:txBody>
      </p:sp>
    </p:spTree>
    <p:extLst>
      <p:ext uri="{BB962C8B-B14F-4D97-AF65-F5344CB8AC3E}">
        <p14:creationId xmlns:p14="http://schemas.microsoft.com/office/powerpoint/2010/main" val="368874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815E2-D66C-45B8-8A6A-7B8A44D3D44B}"/>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en-US" dirty="0"/>
            </a:br>
            <a:r>
              <a:rPr lang="en-US" dirty="0" err="1"/>
              <a:t>Sulah</a:t>
            </a:r>
            <a:r>
              <a:rPr lang="en-US" dirty="0"/>
              <a:t> </a:t>
            </a:r>
            <a:r>
              <a:rPr lang="en-US" dirty="0" err="1"/>
              <a:t>Hudaibya</a:t>
            </a:r>
            <a:endParaRPr lang="en-US" dirty="0"/>
          </a:p>
        </p:txBody>
      </p:sp>
      <p:sp>
        <p:nvSpPr>
          <p:cNvPr id="3" name="Content Placeholder 2">
            <a:extLst>
              <a:ext uri="{FF2B5EF4-FFF2-40B4-BE49-F238E27FC236}">
                <a16:creationId xmlns:a16="http://schemas.microsoft.com/office/drawing/2014/main" id="{577AD800-A7AE-4A95-8009-0FE1CF5BB4D0}"/>
              </a:ext>
            </a:extLst>
          </p:cNvPr>
          <p:cNvSpPr>
            <a:spLocks noGrp="1"/>
          </p:cNvSpPr>
          <p:nvPr>
            <p:ph idx="1"/>
          </p:nvPr>
        </p:nvSpPr>
        <p:spPr/>
        <p:txBody>
          <a:bodyPr>
            <a:normAutofit fontScale="85000" lnSpcReduction="20000"/>
          </a:bodyPr>
          <a:lstStyle/>
          <a:p>
            <a:pPr marL="0" indent="0">
              <a:buNone/>
            </a:pPr>
            <a:r>
              <a:rPr lang="en-US" b="1" dirty="0"/>
              <a:t>Significance of the Treaty</a:t>
            </a:r>
          </a:p>
          <a:p>
            <a:r>
              <a:rPr lang="en-US" dirty="0"/>
              <a:t>The peace of </a:t>
            </a:r>
            <a:r>
              <a:rPr lang="en-US" dirty="0" err="1"/>
              <a:t>Hudaybiyah</a:t>
            </a:r>
            <a:r>
              <a:rPr lang="en-US" dirty="0"/>
              <a:t> proved to be a precursor to the conquest of Makkah. Holy Prophet PBUH was reciting Surah Al-Fatah while entering in Makkah.</a:t>
            </a:r>
            <a:endParaRPr lang="ur-PK" dirty="0"/>
          </a:p>
          <a:p>
            <a:r>
              <a:rPr lang="en-US" dirty="0"/>
              <a:t>Owing to the agreement, the hostile Quraish tribe recognized Prophet Muhammad (PBUH) as the leader of the state of Madinah.</a:t>
            </a:r>
          </a:p>
          <a:p>
            <a:r>
              <a:rPr lang="en-US" dirty="0"/>
              <a:t>Since followers of Islam and the polytheists were no longer in an ongoing struggle, some people started seeing the religion in a new light and became its followers.</a:t>
            </a:r>
          </a:p>
          <a:p>
            <a:r>
              <a:rPr lang="en-US" dirty="0"/>
              <a:t>After the agreement, Muslims were allowed to make alliances with other tribes.</a:t>
            </a:r>
          </a:p>
          <a:p>
            <a:r>
              <a:rPr lang="en-US" dirty="0"/>
              <a:t>The 10-year armistice gave Muslims a chance to preach Islam and deal with the enemies on the other side of the peninsula.</a:t>
            </a:r>
          </a:p>
        </p:txBody>
      </p:sp>
    </p:spTree>
    <p:extLst>
      <p:ext uri="{BB962C8B-B14F-4D97-AF65-F5344CB8AC3E}">
        <p14:creationId xmlns:p14="http://schemas.microsoft.com/office/powerpoint/2010/main" val="3412558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4D22-DACE-4E1C-A0E6-6D4F8C8FFB6E}"/>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ur-PK" dirty="0"/>
            </a:br>
            <a:r>
              <a:rPr lang="en-US" dirty="0" err="1"/>
              <a:t>Hajjat</a:t>
            </a:r>
            <a:r>
              <a:rPr lang="en-US" dirty="0"/>
              <a:t> ul </a:t>
            </a:r>
            <a:r>
              <a:rPr lang="en-US" dirty="0" err="1"/>
              <a:t>wada</a:t>
            </a:r>
            <a:endParaRPr lang="en-US" dirty="0"/>
          </a:p>
        </p:txBody>
      </p:sp>
      <p:sp>
        <p:nvSpPr>
          <p:cNvPr id="3" name="Content Placeholder 2">
            <a:extLst>
              <a:ext uri="{FF2B5EF4-FFF2-40B4-BE49-F238E27FC236}">
                <a16:creationId xmlns:a16="http://schemas.microsoft.com/office/drawing/2014/main" id="{E45625C3-46E4-4B4E-85DF-9627AE98797C}"/>
              </a:ext>
            </a:extLst>
          </p:cNvPr>
          <p:cNvSpPr>
            <a:spLocks noGrp="1"/>
          </p:cNvSpPr>
          <p:nvPr>
            <p:ph idx="1"/>
          </p:nvPr>
        </p:nvSpPr>
        <p:spPr/>
        <p:txBody>
          <a:bodyPr/>
          <a:lstStyle/>
          <a:p>
            <a:r>
              <a:rPr lang="en-US" dirty="0"/>
              <a:t>In 10</a:t>
            </a:r>
            <a:r>
              <a:rPr lang="en-US" baseline="30000" dirty="0"/>
              <a:t>th</a:t>
            </a:r>
            <a:r>
              <a:rPr lang="en-US" dirty="0"/>
              <a:t> year of hijra the Holy Prophet went to perform Hajj</a:t>
            </a:r>
          </a:p>
          <a:p>
            <a:r>
              <a:rPr lang="en-US" dirty="0"/>
              <a:t>One hundred thousand people joined in the pilgrimage the year</a:t>
            </a:r>
          </a:p>
        </p:txBody>
      </p:sp>
    </p:spTree>
    <p:extLst>
      <p:ext uri="{BB962C8B-B14F-4D97-AF65-F5344CB8AC3E}">
        <p14:creationId xmlns:p14="http://schemas.microsoft.com/office/powerpoint/2010/main" val="260494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F803-4AA8-4CCE-A502-A16E03E7B16D}"/>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ur-PK" dirty="0"/>
            </a:br>
            <a:r>
              <a:rPr lang="en-US" dirty="0" err="1"/>
              <a:t>Hajjat</a:t>
            </a:r>
            <a:r>
              <a:rPr lang="en-US" dirty="0"/>
              <a:t> ul </a:t>
            </a:r>
            <a:r>
              <a:rPr lang="en-US" dirty="0" err="1"/>
              <a:t>wada</a:t>
            </a:r>
            <a:endParaRPr lang="en-US" dirty="0"/>
          </a:p>
        </p:txBody>
      </p:sp>
      <p:sp>
        <p:nvSpPr>
          <p:cNvPr id="3" name="Content Placeholder 2">
            <a:extLst>
              <a:ext uri="{FF2B5EF4-FFF2-40B4-BE49-F238E27FC236}">
                <a16:creationId xmlns:a16="http://schemas.microsoft.com/office/drawing/2014/main" id="{8FF9BF2C-3F8D-4974-8F5C-ECB2E2EE6614}"/>
              </a:ext>
            </a:extLst>
          </p:cNvPr>
          <p:cNvSpPr>
            <a:spLocks noGrp="1"/>
          </p:cNvSpPr>
          <p:nvPr>
            <p:ph idx="1"/>
          </p:nvPr>
        </p:nvSpPr>
        <p:spPr/>
        <p:txBody>
          <a:bodyPr>
            <a:normAutofit fontScale="85000" lnSpcReduction="10000"/>
          </a:bodyPr>
          <a:lstStyle/>
          <a:p>
            <a:r>
              <a:rPr lang="en-US" b="1" dirty="0"/>
              <a:t>O People</a:t>
            </a:r>
            <a:br>
              <a:rPr lang="en-US" dirty="0"/>
            </a:br>
            <a:r>
              <a:rPr lang="en-US" dirty="0"/>
              <a:t>Lend me an attentive ear, for I know not whether after this year, I shall ever be amongst you again. Therefor listen to what I am saying to you very carefully and take these words to those who could not be present here today.</a:t>
            </a:r>
          </a:p>
          <a:p>
            <a:r>
              <a:rPr lang="en-US" b="1" dirty="0"/>
              <a:t>O People</a:t>
            </a:r>
            <a:br>
              <a:rPr lang="en-US" dirty="0"/>
            </a:br>
            <a:r>
              <a:rPr lang="en-US" dirty="0"/>
              <a:t>Just as you regard this month, this day, this city as sacred, so regard the life and property of every Muslim as a sacred trust. Return the goods entrusted to you to their rightful owners. Hurt no one so that no one may hurt you. Remember that you will indeed meet your Lord, and that He will indeed reckon your deeds. Allah has forbidden you to take usury (interest); therefore all interest obligation shall henceforth be waived. Your capital, however, is yours to keep. You will neither inflict nor suffer any inequity.</a:t>
            </a:r>
          </a:p>
        </p:txBody>
      </p:sp>
    </p:spTree>
    <p:extLst>
      <p:ext uri="{BB962C8B-B14F-4D97-AF65-F5344CB8AC3E}">
        <p14:creationId xmlns:p14="http://schemas.microsoft.com/office/powerpoint/2010/main" val="559630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53926-2EA0-45DB-BA36-FD74842AFE16}"/>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ur-PK" dirty="0"/>
            </a:br>
            <a:r>
              <a:rPr lang="en-US" dirty="0" err="1"/>
              <a:t>Hajjat</a:t>
            </a:r>
            <a:r>
              <a:rPr lang="en-US" dirty="0"/>
              <a:t> ul </a:t>
            </a:r>
            <a:r>
              <a:rPr lang="en-US" dirty="0" err="1"/>
              <a:t>wada</a:t>
            </a:r>
            <a:endParaRPr lang="en-US" dirty="0"/>
          </a:p>
        </p:txBody>
      </p:sp>
      <p:sp>
        <p:nvSpPr>
          <p:cNvPr id="3" name="Content Placeholder 2">
            <a:extLst>
              <a:ext uri="{FF2B5EF4-FFF2-40B4-BE49-F238E27FC236}">
                <a16:creationId xmlns:a16="http://schemas.microsoft.com/office/drawing/2014/main" id="{83F621EE-52F8-40B1-B979-0BBAEAC37650}"/>
              </a:ext>
            </a:extLst>
          </p:cNvPr>
          <p:cNvSpPr>
            <a:spLocks noGrp="1"/>
          </p:cNvSpPr>
          <p:nvPr>
            <p:ph idx="1"/>
          </p:nvPr>
        </p:nvSpPr>
        <p:spPr/>
        <p:txBody>
          <a:bodyPr>
            <a:normAutofit fontScale="85000" lnSpcReduction="20000"/>
          </a:bodyPr>
          <a:lstStyle/>
          <a:p>
            <a:r>
              <a:rPr lang="en-US" dirty="0"/>
              <a:t>Allah has Judged that there shall be no interest and that all interest due to Abbas Ibn ‘Abd al </a:t>
            </a:r>
            <a:r>
              <a:rPr lang="en-US" dirty="0" err="1"/>
              <a:t>Muttalib</a:t>
            </a:r>
            <a:r>
              <a:rPr lang="en-US" dirty="0"/>
              <a:t> (the Prophet's uncle) shall henceforth be waived.</a:t>
            </a:r>
          </a:p>
          <a:p>
            <a:r>
              <a:rPr lang="en-US" dirty="0"/>
              <a:t>Beware of Satan for the safety of your religion. He has lost all hope that he will ever be able to lead you astray in big things, so beware of following him in small things.</a:t>
            </a:r>
          </a:p>
          <a:p>
            <a:r>
              <a:rPr lang="en-US" b="1" dirty="0"/>
              <a:t>O People</a:t>
            </a:r>
            <a:br>
              <a:rPr lang="en-US" dirty="0"/>
            </a:br>
            <a:r>
              <a:rPr lang="en-US" dirty="0"/>
              <a:t>It is true that you have certain rights in regard to your women, but they also have rights over you. Remember that you have taken them as your wives, only under Allah's trust and with His permission. If they abide by your right then to them belongs the right to be fed and clothed in kindness. Do treat you women well and be kind to them, for they are your partners and committed helpers. And it is your right that they do not make friends with anyone of whom you do not approve, as well as never to be unchaste.</a:t>
            </a:r>
          </a:p>
        </p:txBody>
      </p:sp>
    </p:spTree>
    <p:extLst>
      <p:ext uri="{BB962C8B-B14F-4D97-AF65-F5344CB8AC3E}">
        <p14:creationId xmlns:p14="http://schemas.microsoft.com/office/powerpoint/2010/main" val="671867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97C3C-8C7D-4842-8A5F-9D1C2BF8F586}"/>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ur-PK" dirty="0"/>
            </a:br>
            <a:r>
              <a:rPr lang="en-US" dirty="0" err="1"/>
              <a:t>Hajjat</a:t>
            </a:r>
            <a:r>
              <a:rPr lang="en-US" dirty="0"/>
              <a:t> ul </a:t>
            </a:r>
            <a:r>
              <a:rPr lang="en-US" dirty="0" err="1"/>
              <a:t>wada</a:t>
            </a:r>
            <a:endParaRPr lang="en-US" dirty="0"/>
          </a:p>
        </p:txBody>
      </p:sp>
      <p:sp>
        <p:nvSpPr>
          <p:cNvPr id="3" name="Content Placeholder 2">
            <a:extLst>
              <a:ext uri="{FF2B5EF4-FFF2-40B4-BE49-F238E27FC236}">
                <a16:creationId xmlns:a16="http://schemas.microsoft.com/office/drawing/2014/main" id="{D6E3101E-85B3-47EB-8E6F-B30B1CC8A4C7}"/>
              </a:ext>
            </a:extLst>
          </p:cNvPr>
          <p:cNvSpPr>
            <a:spLocks noGrp="1"/>
          </p:cNvSpPr>
          <p:nvPr>
            <p:ph idx="1"/>
          </p:nvPr>
        </p:nvSpPr>
        <p:spPr/>
        <p:txBody>
          <a:bodyPr>
            <a:normAutofit fontScale="85000" lnSpcReduction="10000"/>
          </a:bodyPr>
          <a:lstStyle/>
          <a:p>
            <a:r>
              <a:rPr lang="en-US" b="1" dirty="0"/>
              <a:t>O People</a:t>
            </a:r>
            <a:br>
              <a:rPr lang="en-US" dirty="0"/>
            </a:br>
            <a:r>
              <a:rPr lang="en-US" dirty="0"/>
              <a:t>Listen to me in earnest, worship Allah, say your five daily prayers (Salah), fast during the month of Ramadan, and give your wealth in Zakat.</a:t>
            </a:r>
          </a:p>
          <a:p>
            <a:r>
              <a:rPr lang="en-US" dirty="0"/>
              <a:t>Perform Hajj if you can afford to.</a:t>
            </a:r>
          </a:p>
          <a:p>
            <a:r>
              <a:rPr lang="en-US" dirty="0"/>
              <a:t>All mankind is from Adam and Eve, an Arab has no superiority over a non-Arab nor a non-Arab has any superiority over an Arab; also a white has no superiority over a black, nor a black has any superiority over a white- except by piety and good action. Learn that every Muslim is a brother to every Muslim and that the Muslims constitute one brotherhood. Nothing shall be legitimate to a Muslim, which belongs to a fellow Muslim unless it was given freely and willingly. Do not therefor, do injustice to yourselves.</a:t>
            </a:r>
          </a:p>
        </p:txBody>
      </p:sp>
    </p:spTree>
    <p:extLst>
      <p:ext uri="{BB962C8B-B14F-4D97-AF65-F5344CB8AC3E}">
        <p14:creationId xmlns:p14="http://schemas.microsoft.com/office/powerpoint/2010/main" val="1488947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57F74-836E-43DF-BF56-20E0993DB717}"/>
              </a:ext>
            </a:extLst>
          </p:cNvPr>
          <p:cNvSpPr>
            <a:spLocks noGrp="1"/>
          </p:cNvSpPr>
          <p:nvPr>
            <p:ph type="title"/>
          </p:nvPr>
        </p:nvSpPr>
        <p:spPr/>
        <p:txBody>
          <a:bodyPr>
            <a:normAutofit fontScale="90000"/>
          </a:bodyPr>
          <a:lstStyle/>
          <a:p>
            <a:r>
              <a:rPr lang="en-US" dirty="0"/>
              <a:t>LIFE OF HOLY PROPHET </a:t>
            </a:r>
            <a:r>
              <a:rPr lang="ur-PK" dirty="0"/>
              <a:t>ﷺ</a:t>
            </a:r>
            <a:r>
              <a:rPr lang="en-US" dirty="0"/>
              <a:t> In Madinah</a:t>
            </a:r>
            <a:br>
              <a:rPr lang="ur-PK" dirty="0"/>
            </a:br>
            <a:r>
              <a:rPr lang="en-US" dirty="0" err="1"/>
              <a:t>Hajjat</a:t>
            </a:r>
            <a:r>
              <a:rPr lang="en-US" dirty="0"/>
              <a:t> ul </a:t>
            </a:r>
            <a:r>
              <a:rPr lang="en-US" dirty="0" err="1"/>
              <a:t>wada</a:t>
            </a:r>
            <a:endParaRPr lang="en-US" dirty="0"/>
          </a:p>
        </p:txBody>
      </p:sp>
      <p:sp>
        <p:nvSpPr>
          <p:cNvPr id="3" name="Content Placeholder 2">
            <a:extLst>
              <a:ext uri="{FF2B5EF4-FFF2-40B4-BE49-F238E27FC236}">
                <a16:creationId xmlns:a16="http://schemas.microsoft.com/office/drawing/2014/main" id="{26FF3ED8-6263-4677-910D-BDE4B36BCDE2}"/>
              </a:ext>
            </a:extLst>
          </p:cNvPr>
          <p:cNvSpPr>
            <a:spLocks noGrp="1"/>
          </p:cNvSpPr>
          <p:nvPr>
            <p:ph idx="1"/>
          </p:nvPr>
        </p:nvSpPr>
        <p:spPr/>
        <p:txBody>
          <a:bodyPr>
            <a:normAutofit fontScale="92500"/>
          </a:bodyPr>
          <a:lstStyle/>
          <a:p>
            <a:r>
              <a:rPr lang="en-US" dirty="0"/>
              <a:t>Remember one day you will appear before Allah and answer for your deeds. So beware, do not stray from the path of righteousness after I am gone. People, no prophet or apostle will come after me and no new faith will be born. Reason well therefore, O people, and understand words which I convey to you. I leave behind me two things, the Quran and the Sunnah (Hadith), and if you follow these you will never go astray. All those who listen to me shall pass on my words to others and those to others again; and may the last ones understand my words better than those who listened to me directly. Be my witness, O Allah, that I have conveyed your message to your people."</a:t>
            </a:r>
          </a:p>
          <a:p>
            <a:endParaRPr lang="en-US" dirty="0"/>
          </a:p>
        </p:txBody>
      </p:sp>
    </p:spTree>
    <p:extLst>
      <p:ext uri="{BB962C8B-B14F-4D97-AF65-F5344CB8AC3E}">
        <p14:creationId xmlns:p14="http://schemas.microsoft.com/office/powerpoint/2010/main" val="1761738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427B2-4AA0-4F44-BEF6-6769973814CD}"/>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829BD7FD-3B57-4C52-A7A3-8C85F452334A}"/>
              </a:ext>
            </a:extLst>
          </p:cNvPr>
          <p:cNvSpPr>
            <a:spLocks noGrp="1"/>
          </p:cNvSpPr>
          <p:nvPr>
            <p:ph idx="1"/>
          </p:nvPr>
        </p:nvSpPr>
        <p:spPr/>
        <p:txBody>
          <a:bodyPr/>
          <a:lstStyle/>
          <a:p>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meaning</a:t>
            </a:r>
          </a:p>
          <a:p>
            <a:pPr marL="0" indent="0">
              <a:buNone/>
            </a:pPr>
            <a:r>
              <a:rPr lang="en-US" dirty="0"/>
              <a:t>Cleaning and purifying entire flow of actions from things which are unwholesome and unwelcome in eye of Allah.  In other words </a:t>
            </a:r>
            <a:r>
              <a:rPr lang="en-US" dirty="0" err="1"/>
              <a:t>Tazkiya</a:t>
            </a:r>
            <a:r>
              <a:rPr lang="en-US" dirty="0"/>
              <a:t> mean developing of character, thought and behavior.</a:t>
            </a:r>
          </a:p>
        </p:txBody>
      </p:sp>
    </p:spTree>
    <p:extLst>
      <p:ext uri="{BB962C8B-B14F-4D97-AF65-F5344CB8AC3E}">
        <p14:creationId xmlns:p14="http://schemas.microsoft.com/office/powerpoint/2010/main" val="928325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30C8-D444-41C8-9A2F-A871CC43AADD}"/>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EF09F9B5-1C96-44EF-A322-5721298C0332}"/>
              </a:ext>
            </a:extLst>
          </p:cNvPr>
          <p:cNvSpPr>
            <a:spLocks noGrp="1"/>
          </p:cNvSpPr>
          <p:nvPr>
            <p:ph idx="1"/>
          </p:nvPr>
        </p:nvSpPr>
        <p:spPr/>
        <p:txBody>
          <a:bodyPr>
            <a:normAutofit fontScale="92500" lnSpcReduction="10000"/>
          </a:bodyPr>
          <a:lstStyle/>
          <a:p>
            <a:pPr marL="0" indent="0">
              <a:buNone/>
            </a:pPr>
            <a:r>
              <a:rPr lang="en-US" dirty="0" err="1"/>
              <a:t>Tazkiya</a:t>
            </a:r>
            <a:r>
              <a:rPr lang="en-US" dirty="0"/>
              <a:t> in Quran</a:t>
            </a:r>
            <a:endParaRPr lang="ur-PK" dirty="0"/>
          </a:p>
          <a:p>
            <a:pPr marL="0" indent="0" algn="ctr">
              <a:buNone/>
            </a:pPr>
            <a:r>
              <a:rPr lang="ar-SA" dirty="0">
                <a:latin typeface="Traditional Arabic" panose="02020603050405020304" pitchFamily="18" charset="-78"/>
                <a:cs typeface="Traditional Arabic" panose="02020603050405020304" pitchFamily="18" charset="-78"/>
              </a:rPr>
              <a:t>قَدْ أَفْلَحَ مَن زَكَّاهَا</a:t>
            </a:r>
          </a:p>
          <a:p>
            <a:pPr marL="0" indent="0" algn="ctr">
              <a:buNone/>
            </a:pPr>
            <a:r>
              <a:rPr lang="en-US" dirty="0"/>
              <a:t>He has succeeded who purifies it.</a:t>
            </a:r>
          </a:p>
          <a:p>
            <a:pPr marL="0" indent="0" algn="ctr">
              <a:buNone/>
            </a:pPr>
            <a:r>
              <a:rPr lang="ar-SA" dirty="0">
                <a:latin typeface="Traditional Arabic" panose="02020603050405020304" pitchFamily="18" charset="-78"/>
                <a:cs typeface="Traditional Arabic" panose="02020603050405020304" pitchFamily="18" charset="-78"/>
              </a:rPr>
              <a:t>هُوَ الَّذِي بَعَثَ فِي الْأُمِّيِّينَ رَسُولًا مِّنْهُمْ يَتْلُو عَلَيْهِمْ آيَاتِهِ وَيُزَكِّيهِمْ</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t>It is He who has sent among the unlettered a </a:t>
            </a:r>
          </a:p>
          <a:p>
            <a:pPr marL="0" indent="0" algn="ctr">
              <a:buNone/>
            </a:pPr>
            <a:r>
              <a:rPr lang="en-US" dirty="0"/>
              <a:t>Messenger from themselves reciting to them </a:t>
            </a:r>
          </a:p>
          <a:p>
            <a:pPr marL="0" indent="0" algn="ctr">
              <a:buNone/>
            </a:pPr>
            <a:r>
              <a:rPr lang="en-US" dirty="0"/>
              <a:t>His verses and purifying them.</a:t>
            </a:r>
          </a:p>
          <a:p>
            <a:pPr marL="0" indent="0">
              <a:buNone/>
            </a:pPr>
            <a:endParaRPr lang="en-US" dirty="0"/>
          </a:p>
        </p:txBody>
      </p:sp>
    </p:spTree>
    <p:extLst>
      <p:ext uri="{BB962C8B-B14F-4D97-AF65-F5344CB8AC3E}">
        <p14:creationId xmlns:p14="http://schemas.microsoft.com/office/powerpoint/2010/main" val="3671693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15B09-7714-491B-BB34-6AC36135F805}"/>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8D1AE4A7-218B-4EC4-82A8-4C16928E1DDB}"/>
              </a:ext>
            </a:extLst>
          </p:cNvPr>
          <p:cNvSpPr>
            <a:spLocks noGrp="1"/>
          </p:cNvSpPr>
          <p:nvPr>
            <p:ph idx="1"/>
          </p:nvPr>
        </p:nvSpPr>
        <p:spPr/>
        <p:txBody>
          <a:bodyPr/>
          <a:lstStyle/>
          <a:p>
            <a:pPr marL="0" indent="0">
              <a:buNone/>
            </a:pPr>
            <a:r>
              <a:rPr lang="en-US" dirty="0" err="1"/>
              <a:t>Tazkiya</a:t>
            </a:r>
            <a:r>
              <a:rPr lang="en-US" dirty="0"/>
              <a:t> in </a:t>
            </a:r>
            <a:r>
              <a:rPr lang="en-US" dirty="0" err="1"/>
              <a:t>Hadees</a:t>
            </a:r>
            <a:endParaRPr lang="en-US" dirty="0"/>
          </a:p>
          <a:p>
            <a:pPr marL="0" indent="0" algn="ctr">
              <a:buNone/>
            </a:pPr>
            <a:r>
              <a:rPr lang="ar-SA" dirty="0">
                <a:latin typeface="Traditional Arabic" panose="02020603050405020304" pitchFamily="18" charset="-78"/>
                <a:cs typeface="Traditional Arabic" panose="02020603050405020304" pitchFamily="18" charset="-78"/>
              </a:rPr>
              <a:t>ألا وإن فى الجسد مضغة إذا صلحت صلح الجسد</a:t>
            </a:r>
            <a:endParaRPr lang="en-US" dirty="0">
              <a:latin typeface="Traditional Arabic" panose="02020603050405020304" pitchFamily="18" charset="-78"/>
              <a:cs typeface="Traditional Arabic" panose="02020603050405020304" pitchFamily="18" charset="-78"/>
            </a:endParaRPr>
          </a:p>
          <a:p>
            <a:pPr marL="0" indent="0" algn="ctr">
              <a:buNone/>
            </a:pPr>
            <a:r>
              <a:rPr lang="ar-SA" dirty="0">
                <a:latin typeface="Traditional Arabic" panose="02020603050405020304" pitchFamily="18" charset="-78"/>
                <a:cs typeface="Traditional Arabic" panose="02020603050405020304" pitchFamily="18" charset="-78"/>
              </a:rPr>
              <a:t> كله، وإذا فسدت فسد الجسد كله‏:‏ ألا وهى القلب</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t>Verily, there is a piece of flesh in the body, if it is healthy, </a:t>
            </a:r>
          </a:p>
          <a:p>
            <a:pPr marL="0" indent="0" algn="ctr">
              <a:buNone/>
            </a:pPr>
            <a:r>
              <a:rPr lang="en-US" dirty="0"/>
              <a:t>the whole body is healthy, and if it is corrupt, the whole </a:t>
            </a:r>
          </a:p>
          <a:p>
            <a:pPr marL="0" indent="0" algn="ctr">
              <a:buNone/>
            </a:pPr>
            <a:r>
              <a:rPr lang="en-US" dirty="0"/>
              <a:t>body is corrupt. Verily, it is the heart.</a:t>
            </a:r>
          </a:p>
        </p:txBody>
      </p:sp>
    </p:spTree>
    <p:extLst>
      <p:ext uri="{BB962C8B-B14F-4D97-AF65-F5344CB8AC3E}">
        <p14:creationId xmlns:p14="http://schemas.microsoft.com/office/powerpoint/2010/main" val="2427495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6240-140D-403B-B723-E7E524246D33}"/>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D340770C-E5D8-476D-8B99-325C74EC2B4C}"/>
              </a:ext>
            </a:extLst>
          </p:cNvPr>
          <p:cNvSpPr>
            <a:spLocks noGrp="1"/>
          </p:cNvSpPr>
          <p:nvPr>
            <p:ph idx="1"/>
          </p:nvPr>
        </p:nvSpPr>
        <p:spPr/>
        <p:txBody>
          <a:bodyPr/>
          <a:lstStyle/>
          <a:p>
            <a:pPr marL="0" indent="0" algn="ctr">
              <a:buNone/>
            </a:pPr>
            <a:r>
              <a:rPr lang="en-US" dirty="0"/>
              <a:t>Methodology of Prophet </a:t>
            </a:r>
            <a:r>
              <a:rPr lang="ur-PK" dirty="0"/>
              <a:t>ﷺ</a:t>
            </a:r>
            <a:r>
              <a:rPr lang="en-US" dirty="0"/>
              <a:t> (elements of </a:t>
            </a:r>
            <a:r>
              <a:rPr lang="en-US" dirty="0" err="1"/>
              <a:t>Tazkiya</a:t>
            </a:r>
            <a:r>
              <a:rPr lang="en-US" dirty="0"/>
              <a:t>)</a:t>
            </a:r>
            <a:endParaRPr lang="ur-PK" dirty="0"/>
          </a:p>
          <a:p>
            <a:r>
              <a:rPr lang="en-US" b="1" dirty="0"/>
              <a:t>Fearing Allah</a:t>
            </a:r>
            <a:endParaRPr lang="ur-PK" b="1" dirty="0"/>
          </a:p>
          <a:p>
            <a:pPr marL="0" indent="0" algn="ctr">
              <a:buNone/>
            </a:pPr>
            <a:r>
              <a:rPr lang="ar-SA" dirty="0">
                <a:latin typeface="Traditional Arabic" panose="02020603050405020304" pitchFamily="18" charset="-78"/>
                <a:cs typeface="Traditional Arabic" panose="02020603050405020304" pitchFamily="18" charset="-78"/>
              </a:rPr>
              <a:t>يَا أَيُّهَا الَّذِينَ آمَنُوا اتَّقُوا اللَّهَ حَقَّ تُقَاتِهِ</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t>O you who have believed, fear Allah as He should be feared</a:t>
            </a:r>
          </a:p>
          <a:p>
            <a:pPr marL="0" indent="0" algn="ctr">
              <a:buNone/>
            </a:pPr>
            <a:r>
              <a:rPr lang="ar-SA" dirty="0">
                <a:latin typeface="Traditional Arabic" panose="02020603050405020304" pitchFamily="18" charset="-78"/>
                <a:cs typeface="Traditional Arabic" panose="02020603050405020304" pitchFamily="18" charset="-78"/>
              </a:rPr>
              <a:t>نحْنُ أَقْرَبُ إِلَيْهِ مِنْ حَبْلِ الْوَرِيدِ</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t>We are closer to him than [his] jugular vein</a:t>
            </a:r>
          </a:p>
          <a:p>
            <a:pPr marL="0" indent="0">
              <a:buNone/>
            </a:pPr>
            <a:endParaRPr lang="en-US" dirty="0"/>
          </a:p>
        </p:txBody>
      </p:sp>
    </p:spTree>
    <p:extLst>
      <p:ext uri="{BB962C8B-B14F-4D97-AF65-F5344CB8AC3E}">
        <p14:creationId xmlns:p14="http://schemas.microsoft.com/office/powerpoint/2010/main" val="658446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55D5-2B19-45A3-8C2E-5DE6E080D17D}"/>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C10EAE60-E2AA-4913-A1E8-4E0334563D96}"/>
              </a:ext>
            </a:extLst>
          </p:cNvPr>
          <p:cNvSpPr>
            <a:spLocks noGrp="1"/>
          </p:cNvSpPr>
          <p:nvPr>
            <p:ph idx="1"/>
          </p:nvPr>
        </p:nvSpPr>
        <p:spPr/>
        <p:txBody>
          <a:bodyPr>
            <a:normAutofit fontScale="85000" lnSpcReduction="10000"/>
          </a:bodyPr>
          <a:lstStyle/>
          <a:p>
            <a:pPr marL="0" indent="0" algn="ctr">
              <a:buNone/>
            </a:pPr>
            <a:r>
              <a:rPr lang="en-US" dirty="0"/>
              <a:t>Methodology of Prophet </a:t>
            </a:r>
            <a:r>
              <a:rPr lang="ur-PK" dirty="0"/>
              <a:t>ﷺ</a:t>
            </a:r>
            <a:r>
              <a:rPr lang="en-US" dirty="0"/>
              <a:t> (elements of </a:t>
            </a:r>
            <a:r>
              <a:rPr lang="en-US" dirty="0" err="1"/>
              <a:t>Tazkiya</a:t>
            </a:r>
            <a:r>
              <a:rPr lang="en-US" dirty="0"/>
              <a:t>)</a:t>
            </a:r>
            <a:endParaRPr lang="ur-PK" dirty="0"/>
          </a:p>
          <a:p>
            <a:pPr algn="just"/>
            <a:r>
              <a:rPr lang="en-US" sz="2800" b="1" dirty="0"/>
              <a:t>Fear of Hereafter</a:t>
            </a:r>
            <a:endParaRPr lang="ur-PK" sz="2800" b="1" dirty="0"/>
          </a:p>
          <a:p>
            <a:pPr marL="0" indent="0" algn="ctr">
              <a:buNone/>
            </a:pPr>
            <a:r>
              <a:rPr lang="ar-SA" dirty="0">
                <a:solidFill>
                  <a:schemeClr val="tx1"/>
                </a:solidFill>
              </a:rPr>
              <a:t>عن عائشة رضي الله عنها يُحْشَرُ الناس يوم القيامة </a:t>
            </a:r>
            <a:r>
              <a:rPr lang="ar-SA" dirty="0">
                <a:solidFill>
                  <a:schemeClr val="tx1"/>
                </a:solidFill>
                <a:hlinkClick r:id="rId2">
                  <a:extLst>
                    <a:ext uri="{A12FA001-AC4F-418D-AE19-62706E023703}">
                      <ahyp:hlinkClr xmlns:ahyp="http://schemas.microsoft.com/office/drawing/2018/hyperlinkcolor" val="tx"/>
                    </a:ext>
                  </a:extLst>
                </a:hlinkClick>
              </a:rPr>
              <a:t>حفاة </a:t>
            </a:r>
            <a:r>
              <a:rPr lang="ar-SA" dirty="0">
                <a:solidFill>
                  <a:schemeClr val="tx1"/>
                </a:solidFill>
              </a:rPr>
              <a:t>عراة غُرْلًا قلت</a:t>
            </a:r>
            <a:r>
              <a:rPr lang="ur-PK" dirty="0">
                <a:solidFill>
                  <a:schemeClr val="tx1"/>
                </a:solidFill>
              </a:rPr>
              <a:t> </a:t>
            </a:r>
            <a:r>
              <a:rPr lang="ar-SA" dirty="0">
                <a:solidFill>
                  <a:schemeClr val="tx1"/>
                </a:solidFill>
              </a:rPr>
              <a:t>يا رسول الله </a:t>
            </a:r>
            <a:endParaRPr lang="ur-PK" dirty="0">
              <a:solidFill>
                <a:schemeClr val="tx1"/>
              </a:solidFill>
            </a:endParaRPr>
          </a:p>
          <a:p>
            <a:pPr marL="0" indent="0" algn="ctr">
              <a:buNone/>
            </a:pPr>
            <a:r>
              <a:rPr lang="ar-SA" dirty="0">
                <a:solidFill>
                  <a:schemeClr val="tx1"/>
                </a:solidFill>
              </a:rPr>
              <a:t>الرجال والنساء</a:t>
            </a:r>
            <a:r>
              <a:rPr lang="ur-PK" dirty="0">
                <a:solidFill>
                  <a:schemeClr val="tx1"/>
                </a:solidFill>
              </a:rPr>
              <a:t> </a:t>
            </a:r>
            <a:r>
              <a:rPr lang="ar-SA" dirty="0">
                <a:solidFill>
                  <a:schemeClr val="tx1"/>
                </a:solidFill>
              </a:rPr>
              <a:t>جميعا ينظر بعضهم إلى بعض؟ قال يا عائشة الأمر أشد من أن </a:t>
            </a:r>
            <a:r>
              <a:rPr lang="ar-SA" dirty="0">
                <a:solidFill>
                  <a:schemeClr val="tx1"/>
                </a:solidFill>
                <a:hlinkClick r:id="rId2">
                  <a:extLst>
                    <a:ext uri="{A12FA001-AC4F-418D-AE19-62706E023703}">
                      <ahyp:hlinkClr xmlns:ahyp="http://schemas.microsoft.com/office/drawing/2018/hyperlinkcolor" val="tx"/>
                    </a:ext>
                  </a:extLst>
                </a:hlinkClick>
              </a:rPr>
              <a:t>يهمهم </a:t>
            </a:r>
            <a:r>
              <a:rPr lang="ar-SA" dirty="0">
                <a:solidFill>
                  <a:schemeClr val="tx1"/>
                </a:solidFill>
              </a:rPr>
              <a:t>ذلك</a:t>
            </a:r>
            <a:r>
              <a:rPr lang="ur-PK" dirty="0">
                <a:solidFill>
                  <a:schemeClr val="tx1"/>
                </a:solidFill>
              </a:rPr>
              <a:t>۔</a:t>
            </a:r>
            <a:endParaRPr lang="en-US" dirty="0">
              <a:solidFill>
                <a:schemeClr val="tx1"/>
              </a:solidFill>
            </a:endParaRPr>
          </a:p>
          <a:p>
            <a:pPr marL="0" indent="0" algn="ctr">
              <a:buNone/>
            </a:pPr>
            <a:r>
              <a:rPr lang="en-US" b="1" dirty="0"/>
              <a:t>‘</a:t>
            </a:r>
            <a:r>
              <a:rPr lang="en-US" b="1" dirty="0" err="1"/>
              <a:t>Ā'ishah</a:t>
            </a:r>
            <a:r>
              <a:rPr lang="en-US" b="1" dirty="0"/>
              <a:t>, the Mother of the Believers, (may Allah be pleased with her) reported: I heard the Messenger of Allah (may Allah's peace and blessings be upon him) saying: "People will be gathered on the Day of Resurrection barefooted, naked, and uncircumcised. I said: 'O Messenger of Allah, men and women together, looking at each other? He replied: O ‘</a:t>
            </a:r>
            <a:r>
              <a:rPr lang="en-US" b="1" dirty="0" err="1"/>
              <a:t>Ā'ishah</a:t>
            </a:r>
            <a:r>
              <a:rPr lang="en-US" b="1" dirty="0"/>
              <a:t>, the situation will be too grave for them to be concerned with that.</a:t>
            </a:r>
            <a:endParaRPr lang="en-US" dirty="0">
              <a:solidFill>
                <a:schemeClr val="tx1"/>
              </a:solidFill>
            </a:endParaRPr>
          </a:p>
        </p:txBody>
      </p:sp>
    </p:spTree>
    <p:extLst>
      <p:ext uri="{BB962C8B-B14F-4D97-AF65-F5344CB8AC3E}">
        <p14:creationId xmlns:p14="http://schemas.microsoft.com/office/powerpoint/2010/main" val="2682434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6824E-CAAC-4713-9119-9B5BBEC962E0}"/>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AAF29E16-6313-403A-B751-03BE760F592F}"/>
              </a:ext>
            </a:extLst>
          </p:cNvPr>
          <p:cNvSpPr>
            <a:spLocks noGrp="1"/>
          </p:cNvSpPr>
          <p:nvPr>
            <p:ph idx="1"/>
          </p:nvPr>
        </p:nvSpPr>
        <p:spPr/>
        <p:txBody>
          <a:bodyPr>
            <a:normAutofit fontScale="92500" lnSpcReduction="20000"/>
          </a:bodyPr>
          <a:lstStyle/>
          <a:p>
            <a:pPr marL="0" indent="0" algn="ctr">
              <a:buNone/>
            </a:pPr>
            <a:r>
              <a:rPr lang="en-US" dirty="0"/>
              <a:t>Methodology of Prophet </a:t>
            </a:r>
            <a:r>
              <a:rPr lang="ur-PK" dirty="0"/>
              <a:t>ﷺ</a:t>
            </a:r>
            <a:r>
              <a:rPr lang="en-US" dirty="0"/>
              <a:t> (elements of </a:t>
            </a:r>
            <a:r>
              <a:rPr lang="en-US" dirty="0" err="1"/>
              <a:t>Tazkiya</a:t>
            </a:r>
            <a:r>
              <a:rPr lang="en-US" dirty="0"/>
              <a:t>)</a:t>
            </a:r>
            <a:endParaRPr lang="ur-PK" dirty="0"/>
          </a:p>
          <a:p>
            <a:r>
              <a:rPr lang="en-US" sz="2600" b="1" dirty="0">
                <a:solidFill>
                  <a:schemeClr val="tx1"/>
                </a:solidFill>
              </a:rPr>
              <a:t>Self control</a:t>
            </a:r>
          </a:p>
          <a:p>
            <a:pPr marL="0" indent="0" algn="ctr">
              <a:buNone/>
            </a:pPr>
            <a:r>
              <a:rPr lang="ar-SA" dirty="0">
                <a:latin typeface="Traditional Arabic" panose="02020603050405020304" pitchFamily="18" charset="-78"/>
                <a:cs typeface="Traditional Arabic" panose="02020603050405020304" pitchFamily="18" charset="-78"/>
              </a:rPr>
              <a:t>يَا أَيُّهَا الَّذِينَ آمَنُوا لَا تَتَّبِعُوا خُطُوَاتِ الشَّيْطَانِ</a:t>
            </a:r>
          </a:p>
          <a:p>
            <a:pPr marL="0" indent="0" algn="ctr">
              <a:buNone/>
            </a:pPr>
            <a:r>
              <a:rPr lang="en-US" dirty="0"/>
              <a:t>O you who believe! Follow not the footsteps of Shaitan (Satan).</a:t>
            </a:r>
          </a:p>
          <a:p>
            <a:r>
              <a:rPr lang="en-US" sz="2600" b="1" dirty="0">
                <a:solidFill>
                  <a:schemeClr val="tx1"/>
                </a:solidFill>
              </a:rPr>
              <a:t>Worship</a:t>
            </a:r>
          </a:p>
          <a:p>
            <a:pPr marL="0" indent="0" algn="ctr">
              <a:buNone/>
            </a:pPr>
            <a:r>
              <a:rPr lang="ar-SA" dirty="0">
                <a:latin typeface="Traditional Arabic" panose="02020603050405020304" pitchFamily="18" charset="-78"/>
                <a:cs typeface="Traditional Arabic" panose="02020603050405020304" pitchFamily="18" charset="-78"/>
              </a:rPr>
              <a:t>وَمَا خَلَقْتُ الْجِنَّ وَالْإِنسَ إِلَّا لِيَعْبُدُونِ</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t>And I (Allah) created not the </a:t>
            </a:r>
            <a:r>
              <a:rPr lang="en-US" dirty="0" err="1"/>
              <a:t>jinns</a:t>
            </a:r>
            <a:r>
              <a:rPr lang="en-US" dirty="0"/>
              <a:t> and humans except they should worship Me (Alone).</a:t>
            </a:r>
            <a:endParaRPr lang="en-US" dirty="0">
              <a:solidFill>
                <a:schemeClr val="tx1"/>
              </a:solidFill>
            </a:endParaRPr>
          </a:p>
        </p:txBody>
      </p:sp>
    </p:spTree>
    <p:extLst>
      <p:ext uri="{BB962C8B-B14F-4D97-AF65-F5344CB8AC3E}">
        <p14:creationId xmlns:p14="http://schemas.microsoft.com/office/powerpoint/2010/main" val="6361430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04E6-3A2A-4CBA-8B6C-C3E8C07C9566}"/>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3345AC23-612A-47FC-A2AC-D2E383633DC6}"/>
              </a:ext>
            </a:extLst>
          </p:cNvPr>
          <p:cNvSpPr>
            <a:spLocks noGrp="1"/>
          </p:cNvSpPr>
          <p:nvPr>
            <p:ph idx="1"/>
          </p:nvPr>
        </p:nvSpPr>
        <p:spPr/>
        <p:txBody>
          <a:bodyPr>
            <a:normAutofit fontScale="92500" lnSpcReduction="20000"/>
          </a:bodyPr>
          <a:lstStyle/>
          <a:p>
            <a:r>
              <a:rPr lang="en-US" b="1" dirty="0"/>
              <a:t>Repentance</a:t>
            </a:r>
          </a:p>
          <a:p>
            <a:pPr marL="0" indent="0" algn="ctr" rtl="1">
              <a:buNone/>
            </a:pPr>
            <a:r>
              <a:rPr lang="ur-PK" sz="2600" dirty="0">
                <a:latin typeface="Traditional Arabic" panose="02020603050405020304" pitchFamily="18" charset="-78"/>
                <a:cs typeface="Traditional Arabic" panose="02020603050405020304" pitchFamily="18" charset="-78"/>
              </a:rPr>
              <a:t>ی</a:t>
            </a:r>
            <a:r>
              <a:rPr lang="ar-SA" sz="2600" dirty="0">
                <a:latin typeface="Traditional Arabic" panose="02020603050405020304" pitchFamily="18" charset="-78"/>
                <a:cs typeface="Traditional Arabic" panose="02020603050405020304" pitchFamily="18" charset="-78"/>
              </a:rPr>
              <a:t>ا أَيُّهَا الَّذِينَ آمَنُوا تُوبُوا إِلَى اللَّهِ تَوْبَةً نَّصُوحًا</a:t>
            </a:r>
          </a:p>
          <a:p>
            <a:pPr marL="0" indent="0" algn="ctr">
              <a:buNone/>
            </a:pPr>
            <a:r>
              <a:rPr lang="en-US" dirty="0"/>
              <a:t>O you who believe! Turn to Allah with sincere repentance!</a:t>
            </a:r>
          </a:p>
          <a:p>
            <a:r>
              <a:rPr lang="en-US" b="1" dirty="0"/>
              <a:t>Self Accountability</a:t>
            </a:r>
          </a:p>
          <a:p>
            <a:pPr marL="0" indent="0" algn="ctr">
              <a:buNone/>
            </a:pPr>
            <a:r>
              <a:rPr lang="ar-SA" sz="2600" dirty="0">
                <a:latin typeface="Traditional Arabic" panose="02020603050405020304" pitchFamily="18" charset="-78"/>
                <a:cs typeface="Traditional Arabic" panose="02020603050405020304" pitchFamily="18" charset="-78"/>
              </a:rPr>
              <a:t>الكيس من دان نفسه، وعمل لما بعد الموت ، والعاجز من أتبع نفسه هواها، وتمنى على الله</a:t>
            </a:r>
            <a:endParaRPr lang="ur-PK" sz="2600" dirty="0">
              <a:latin typeface="Traditional Arabic" panose="02020603050405020304" pitchFamily="18" charset="-78"/>
              <a:cs typeface="Traditional Arabic" panose="02020603050405020304" pitchFamily="18" charset="-78"/>
            </a:endParaRPr>
          </a:p>
          <a:p>
            <a:pPr marL="0" indent="0" algn="ctr">
              <a:buNone/>
            </a:pPr>
            <a:r>
              <a:rPr lang="en-US" dirty="0"/>
              <a:t>A wise man is the one who calls himself to account (and refrains from doing evil deeds) and does noble deeds to benefit him after death; and the foolish person is the one who subdues himself to his temptations and desires and seeks from Allah the fulfillment of his vain desires.</a:t>
            </a:r>
            <a:endParaRPr lang="en-US"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73762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561F2-E10F-4960-843B-028135213730}"/>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FE8605AA-9FE4-47D3-87B8-175B66E7B8B8}"/>
              </a:ext>
            </a:extLst>
          </p:cNvPr>
          <p:cNvSpPr>
            <a:spLocks noGrp="1"/>
          </p:cNvSpPr>
          <p:nvPr>
            <p:ph idx="1"/>
          </p:nvPr>
        </p:nvSpPr>
        <p:spPr/>
        <p:txBody>
          <a:bodyPr>
            <a:normAutofit fontScale="92500" lnSpcReduction="20000"/>
          </a:bodyPr>
          <a:lstStyle/>
          <a:p>
            <a:r>
              <a:rPr lang="en-US" b="1" dirty="0"/>
              <a:t>Remembrance of Allah</a:t>
            </a:r>
          </a:p>
          <a:p>
            <a:pPr marL="0" indent="0" algn="ctr">
              <a:buNone/>
            </a:pPr>
            <a:r>
              <a:rPr lang="ar-SA" dirty="0">
                <a:latin typeface="Traditional Arabic" panose="02020603050405020304" pitchFamily="18" charset="-78"/>
                <a:cs typeface="Traditional Arabic" panose="02020603050405020304" pitchFamily="18" charset="-78"/>
              </a:rPr>
              <a:t> الَّذِينَ آمَنُوا وَتَطْمَئِنُّ قُلُوبُهُم بِذِكْرِ اللَّهِ ۗ أَلَا بِذِكْرِ اللَّهِ تَطْمَئِنُّ الْقُلُوبُ</a:t>
            </a:r>
            <a:endParaRPr lang="en-US" dirty="0">
              <a:latin typeface="Traditional Arabic" panose="02020603050405020304" pitchFamily="18" charset="-78"/>
              <a:cs typeface="Traditional Arabic" panose="02020603050405020304" pitchFamily="18" charset="-78"/>
            </a:endParaRPr>
          </a:p>
          <a:p>
            <a:pPr marL="0" indent="0" algn="ctr">
              <a:buNone/>
            </a:pPr>
            <a:r>
              <a:rPr lang="en-US" sz="2200" dirty="0"/>
              <a:t>Those who believe in Allah and whose hearts find</a:t>
            </a:r>
          </a:p>
          <a:p>
            <a:pPr marL="0" indent="0" algn="ctr">
              <a:buNone/>
            </a:pPr>
            <a:r>
              <a:rPr lang="en-US" sz="2200" dirty="0"/>
              <a:t> rest in the remembrance of Allah, Verily, in the </a:t>
            </a:r>
          </a:p>
          <a:p>
            <a:pPr marL="0" indent="0" algn="ctr">
              <a:buNone/>
            </a:pPr>
            <a:r>
              <a:rPr lang="en-US" sz="2200" dirty="0"/>
              <a:t>remembrance of Allah do hearts find rest.</a:t>
            </a:r>
          </a:p>
          <a:p>
            <a:r>
              <a:rPr lang="en-US" sz="2200" b="1" dirty="0"/>
              <a:t>Good and Virtuous Company</a:t>
            </a:r>
          </a:p>
          <a:p>
            <a:pPr marL="0" indent="0" algn="ctr" rtl="1">
              <a:buNone/>
            </a:pPr>
            <a:r>
              <a:rPr lang="ur-PK" sz="2600" dirty="0">
                <a:latin typeface="Traditional Arabic" panose="02020603050405020304" pitchFamily="18" charset="-78"/>
                <a:cs typeface="Traditional Arabic" panose="02020603050405020304" pitchFamily="18" charset="-78"/>
              </a:rPr>
              <a:t>ی</a:t>
            </a:r>
            <a:r>
              <a:rPr lang="ar-SA" sz="2600" dirty="0">
                <a:latin typeface="Traditional Arabic" panose="02020603050405020304" pitchFamily="18" charset="-78"/>
                <a:cs typeface="Traditional Arabic" panose="02020603050405020304" pitchFamily="18" charset="-78"/>
              </a:rPr>
              <a:t>ا أَيُّهَا الَّذِينَ آمَنُوا اتَّقُوا اللَّهَ وَكُونُوا مَعَ الصَّادِقِينَ</a:t>
            </a:r>
          </a:p>
          <a:p>
            <a:pPr marL="0" indent="0" algn="ctr">
              <a:buNone/>
            </a:pPr>
            <a:r>
              <a:rPr lang="en-US" dirty="0"/>
              <a:t>O you who believe! Be afraid of Allah, and be with those who are true.</a:t>
            </a:r>
          </a:p>
          <a:p>
            <a:pPr marL="0" indent="0" algn="ctr">
              <a:buNone/>
            </a:pPr>
            <a:endParaRPr lang="en-US" sz="2200" dirty="0"/>
          </a:p>
          <a:p>
            <a:pPr marL="0" indent="0" algn="ctr">
              <a:buNone/>
            </a:pPr>
            <a:endParaRPr lang="ar-SA"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240967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37FB-E8F6-426E-88FE-3FE02CF91B2B}"/>
              </a:ext>
            </a:extLst>
          </p:cNvPr>
          <p:cNvSpPr>
            <a:spLocks noGrp="1"/>
          </p:cNvSpPr>
          <p:nvPr>
            <p:ph type="title"/>
          </p:nvPr>
        </p:nvSpPr>
        <p:spPr/>
        <p:txBody>
          <a:bodyPr>
            <a:normAutofit fontScale="90000"/>
          </a:bodyPr>
          <a:lstStyle/>
          <a:p>
            <a:r>
              <a:rPr lang="en-US" dirty="0"/>
              <a:t>LIFE OF HOLY PROPHET </a:t>
            </a:r>
            <a:r>
              <a:rPr lang="ur-PK" dirty="0"/>
              <a:t>ﷺ</a:t>
            </a:r>
            <a:br>
              <a:rPr lang="en-US" dirty="0"/>
            </a:br>
            <a:r>
              <a:rPr lang="en-US" dirty="0"/>
              <a:t>Self Purification </a:t>
            </a:r>
            <a:r>
              <a:rPr lang="ur-PK" dirty="0">
                <a:latin typeface="Jameel Noori Nastaleeq" panose="02000503000000020004" pitchFamily="2" charset="-78"/>
                <a:cs typeface="Jameel Noori Nastaleeq" panose="02000503000000020004" pitchFamily="2" charset="-78"/>
              </a:rPr>
              <a:t>(تزکیہ)</a:t>
            </a:r>
            <a:r>
              <a:rPr lang="en-US" dirty="0"/>
              <a:t> &amp; Character Building</a:t>
            </a:r>
          </a:p>
        </p:txBody>
      </p:sp>
      <p:sp>
        <p:nvSpPr>
          <p:cNvPr id="3" name="Content Placeholder 2">
            <a:extLst>
              <a:ext uri="{FF2B5EF4-FFF2-40B4-BE49-F238E27FC236}">
                <a16:creationId xmlns:a16="http://schemas.microsoft.com/office/drawing/2014/main" id="{C656A3E2-4A68-4F17-AA79-AF3F137976E7}"/>
              </a:ext>
            </a:extLst>
          </p:cNvPr>
          <p:cNvSpPr>
            <a:spLocks noGrp="1"/>
          </p:cNvSpPr>
          <p:nvPr>
            <p:ph idx="1"/>
          </p:nvPr>
        </p:nvSpPr>
        <p:spPr/>
        <p:txBody>
          <a:bodyPr/>
          <a:lstStyle/>
          <a:p>
            <a:r>
              <a:rPr lang="en-US" b="1" dirty="0"/>
              <a:t>Moderation </a:t>
            </a:r>
          </a:p>
          <a:p>
            <a:pPr marL="0" indent="0" algn="ctr">
              <a:buNone/>
            </a:pPr>
            <a:r>
              <a:rPr lang="ar-SA" dirty="0">
                <a:latin typeface="Traditional Arabic" panose="02020603050405020304" pitchFamily="18" charset="-78"/>
                <a:cs typeface="Traditional Arabic" panose="02020603050405020304" pitchFamily="18" charset="-78"/>
              </a:rPr>
              <a:t>وَكَذَٰلِكَ جَعَلۡنَٰكُمۡ أُمَّة وَسَطا</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raditional Arabic" panose="02020603050405020304" pitchFamily="18" charset="-78"/>
                <a:cs typeface="Traditional Arabic" panose="02020603050405020304" pitchFamily="18" charset="-78"/>
              </a:rPr>
              <a:t>And in the same way we have made you moderate community.</a:t>
            </a:r>
            <a:endParaRPr lang="ur-PK" dirty="0">
              <a:latin typeface="Traditional Arabic" panose="02020603050405020304" pitchFamily="18" charset="-78"/>
              <a:cs typeface="Traditional Arabic" panose="02020603050405020304" pitchFamily="18" charset="-78"/>
            </a:endParaRPr>
          </a:p>
          <a:p>
            <a:pPr marL="0" indent="0" algn="ctr">
              <a:buNone/>
            </a:pPr>
            <a:r>
              <a:rPr lang="ur-PK" dirty="0">
                <a:latin typeface="Traditional Arabic" panose="02020603050405020304" pitchFamily="18" charset="-78"/>
                <a:cs typeface="Traditional Arabic" panose="02020603050405020304" pitchFamily="18" charset="-78"/>
              </a:rPr>
              <a:t>ق</a:t>
            </a:r>
            <a:r>
              <a:rPr lang="ar-SA" dirty="0">
                <a:latin typeface="Traditional Arabic" panose="02020603050405020304" pitchFamily="18" charset="-78"/>
                <a:cs typeface="Traditional Arabic" panose="02020603050405020304" pitchFamily="18" charset="-78"/>
              </a:rPr>
              <a:t>الَ رَسُولُ اللَّهِ صَلَّى اللَّهُ عَلَيْهِ وَسَلَّمَ</a:t>
            </a:r>
            <a:r>
              <a:rPr lang="ur-PK" dirty="0">
                <a:latin typeface="Traditional Arabic" panose="02020603050405020304" pitchFamily="18" charset="-78"/>
                <a:cs typeface="Traditional Arabic" panose="02020603050405020304" pitchFamily="18" charset="-78"/>
              </a:rPr>
              <a:t> </a:t>
            </a:r>
            <a:r>
              <a:rPr lang="ar-SA" dirty="0">
                <a:latin typeface="Traditional Arabic" panose="02020603050405020304" pitchFamily="18" charset="-78"/>
                <a:cs typeface="Traditional Arabic" panose="02020603050405020304" pitchFamily="18" charset="-78"/>
              </a:rPr>
              <a:t>أَحَبُّ الْأَعْمَالِ إِلَى الله أدومها وَإِن قل</a:t>
            </a:r>
            <a:r>
              <a:rPr lang="ur-PK" dirty="0">
                <a:latin typeface="Traditional Arabic" panose="02020603050405020304" pitchFamily="18" charset="-78"/>
                <a:cs typeface="Traditional Arabic" panose="02020603050405020304" pitchFamily="18" charset="-78"/>
              </a:rPr>
              <a:t>۔</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t>The acts most pleasing to God are those which are done most continuously, even if they amount to little.</a:t>
            </a:r>
            <a:endParaRPr lang="en-US"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57613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EC176-AA60-4659-A06D-91C66EADF5D7}"/>
              </a:ext>
            </a:extLst>
          </p:cNvPr>
          <p:cNvSpPr>
            <a:spLocks noGrp="1"/>
          </p:cNvSpPr>
          <p:nvPr>
            <p:ph type="title"/>
          </p:nvPr>
        </p:nvSpPr>
        <p:spPr/>
        <p:txBody>
          <a:bodyPr>
            <a:normAutofit/>
          </a:bodyPr>
          <a:lstStyle/>
          <a:p>
            <a:r>
              <a:rPr lang="en-US" dirty="0" err="1"/>
              <a:t>Asharah</a:t>
            </a:r>
            <a:r>
              <a:rPr lang="en-US" dirty="0"/>
              <a:t> </a:t>
            </a:r>
            <a:r>
              <a:rPr lang="en-US" dirty="0" err="1"/>
              <a:t>Mubasharah</a:t>
            </a:r>
            <a:endParaRPr lang="en-US" dirty="0"/>
          </a:p>
        </p:txBody>
      </p:sp>
      <p:sp>
        <p:nvSpPr>
          <p:cNvPr id="3" name="Content Placeholder 2">
            <a:extLst>
              <a:ext uri="{FF2B5EF4-FFF2-40B4-BE49-F238E27FC236}">
                <a16:creationId xmlns:a16="http://schemas.microsoft.com/office/drawing/2014/main" id="{E92E621F-BC84-4DC1-87DA-36FD3727DD5A}"/>
              </a:ext>
            </a:extLst>
          </p:cNvPr>
          <p:cNvSpPr>
            <a:spLocks noGrp="1"/>
          </p:cNvSpPr>
          <p:nvPr>
            <p:ph idx="1"/>
          </p:nvPr>
        </p:nvSpPr>
        <p:spPr/>
        <p:txBody>
          <a:bodyPr/>
          <a:lstStyle/>
          <a:p>
            <a:pPr marL="0" indent="0">
              <a:buNone/>
            </a:pPr>
            <a:r>
              <a:rPr lang="en-US" dirty="0" err="1">
                <a:latin typeface="Traditional Arabic" panose="02020603050405020304" pitchFamily="18" charset="-78"/>
                <a:cs typeface="Traditional Arabic" panose="02020603050405020304" pitchFamily="18" charset="-78"/>
              </a:rPr>
              <a:t>Asharah</a:t>
            </a:r>
            <a:r>
              <a:rPr lang="en-US" dirty="0">
                <a:latin typeface="Traditional Arabic" panose="02020603050405020304" pitchFamily="18" charset="-78"/>
                <a:cs typeface="Traditional Arabic" panose="02020603050405020304" pitchFamily="18" charset="-78"/>
              </a:rPr>
              <a:t> </a:t>
            </a:r>
            <a:r>
              <a:rPr lang="en-US" dirty="0" err="1">
                <a:latin typeface="Traditional Arabic" panose="02020603050405020304" pitchFamily="18" charset="-78"/>
                <a:cs typeface="Traditional Arabic" panose="02020603050405020304" pitchFamily="18" charset="-78"/>
              </a:rPr>
              <a:t>Mubasharah</a:t>
            </a:r>
            <a:r>
              <a:rPr lang="en-US" dirty="0">
                <a:latin typeface="Traditional Arabic" panose="02020603050405020304" pitchFamily="18" charset="-78"/>
                <a:cs typeface="Traditional Arabic" panose="02020603050405020304" pitchFamily="18" charset="-78"/>
              </a:rPr>
              <a:t> mean ten companions whose are given the good news of Jannah by Holy Prophet </a:t>
            </a:r>
            <a:r>
              <a:rPr lang="ur-PK" dirty="0">
                <a:latin typeface="Traditional Arabic" panose="02020603050405020304" pitchFamily="18" charset="-78"/>
                <a:cs typeface="Traditional Arabic" panose="02020603050405020304" pitchFamily="18" charset="-78"/>
              </a:rPr>
              <a:t>ﷺ</a:t>
            </a:r>
            <a:endParaRPr lang="en-US" dirty="0">
              <a:latin typeface="Traditional Arabic" panose="02020603050405020304" pitchFamily="18" charset="-78"/>
              <a:cs typeface="Traditional Arabic" panose="02020603050405020304" pitchFamily="18" charset="-78"/>
            </a:endParaRPr>
          </a:p>
          <a:p>
            <a:pPr marL="0" indent="0" algn="ctr">
              <a:buNone/>
            </a:pPr>
            <a:r>
              <a:rPr lang="ur-PK" dirty="0">
                <a:latin typeface="Traditional Arabic" panose="02020603050405020304" pitchFamily="18" charset="-78"/>
                <a:cs typeface="Traditional Arabic" panose="02020603050405020304" pitchFamily="18" charset="-78"/>
              </a:rPr>
              <a:t>ابو بکر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عمر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وعثمان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علی فی الجن</a:t>
            </a:r>
            <a:r>
              <a:rPr lang="ar-SA" dirty="0">
                <a:latin typeface="Traditional Arabic" panose="02020603050405020304" pitchFamily="18" charset="-78"/>
                <a:cs typeface="Traditional Arabic" panose="02020603050405020304" pitchFamily="18" charset="-78"/>
              </a:rPr>
              <a:t>ة</a:t>
            </a:r>
            <a:endParaRPr lang="ur-PK" dirty="0">
              <a:latin typeface="Traditional Arabic" panose="02020603050405020304" pitchFamily="18" charset="-78"/>
              <a:cs typeface="Traditional Arabic" panose="02020603050405020304" pitchFamily="18" charset="-78"/>
            </a:endParaRPr>
          </a:p>
          <a:p>
            <a:pPr marL="0" indent="0" algn="ctr">
              <a:buNone/>
            </a:pPr>
            <a:r>
              <a:rPr lang="ur-PK" dirty="0">
                <a:latin typeface="Traditional Arabic" panose="02020603050405020304" pitchFamily="18" charset="-78"/>
                <a:cs typeface="Traditional Arabic" panose="02020603050405020304" pitchFamily="18" charset="-78"/>
              </a:rPr>
              <a:t>و طلح</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الزبیر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عبدالرحمن بن عوف فی الجن</a:t>
            </a:r>
            <a:r>
              <a:rPr lang="ar-SA" dirty="0">
                <a:latin typeface="Traditional Arabic" panose="02020603050405020304" pitchFamily="18" charset="-78"/>
                <a:cs typeface="Traditional Arabic" panose="02020603050405020304" pitchFamily="18" charset="-78"/>
              </a:rPr>
              <a:t>ة</a:t>
            </a:r>
            <a:endParaRPr lang="ur-PK" dirty="0">
              <a:latin typeface="Traditional Arabic" panose="02020603050405020304" pitchFamily="18" charset="-78"/>
              <a:cs typeface="Traditional Arabic" panose="02020603050405020304" pitchFamily="18" charset="-78"/>
            </a:endParaRPr>
          </a:p>
          <a:p>
            <a:pPr marL="0" indent="0" algn="ctr">
              <a:buNone/>
            </a:pPr>
            <a:r>
              <a:rPr lang="ur-PK" dirty="0">
                <a:latin typeface="Traditional Arabic" panose="02020603050405020304" pitchFamily="18" charset="-78"/>
                <a:cs typeface="Traditional Arabic" panose="02020603050405020304" pitchFamily="18" charset="-78"/>
              </a:rPr>
              <a:t>و سعد بن أبي وقاص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سعید بن زید فی الجن</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و ابو عبید</a:t>
            </a:r>
            <a:r>
              <a:rPr lang="ar-SA" dirty="0">
                <a:latin typeface="Traditional Arabic" panose="02020603050405020304" pitchFamily="18" charset="-78"/>
                <a:cs typeface="Traditional Arabic" panose="02020603050405020304" pitchFamily="18" charset="-78"/>
              </a:rPr>
              <a:t>ة</a:t>
            </a:r>
            <a:endParaRPr lang="ur-PK" dirty="0">
              <a:latin typeface="Traditional Arabic" panose="02020603050405020304" pitchFamily="18" charset="-78"/>
              <a:cs typeface="Traditional Arabic" panose="02020603050405020304" pitchFamily="18" charset="-78"/>
            </a:endParaRPr>
          </a:p>
          <a:p>
            <a:pPr marL="0" indent="0" algn="ctr">
              <a:buNone/>
            </a:pPr>
            <a:r>
              <a:rPr lang="ur-PK" dirty="0">
                <a:latin typeface="Traditional Arabic" panose="02020603050405020304" pitchFamily="18" charset="-78"/>
                <a:cs typeface="Traditional Arabic" panose="02020603050405020304" pitchFamily="18" charset="-78"/>
              </a:rPr>
              <a:t> بن الجراح فی الجن</a:t>
            </a:r>
            <a:r>
              <a:rPr lang="ar-SA" dirty="0">
                <a:latin typeface="Traditional Arabic" panose="02020603050405020304" pitchFamily="18" charset="-78"/>
                <a:cs typeface="Traditional Arabic" panose="02020603050405020304" pitchFamily="18" charset="-78"/>
              </a:rPr>
              <a:t>ة</a:t>
            </a:r>
            <a:endParaRPr lang="ur-PK" dirty="0">
              <a:latin typeface="Traditional Arabic" panose="02020603050405020304" pitchFamily="18" charset="-78"/>
              <a:cs typeface="Traditional Arabic" panose="02020603050405020304" pitchFamily="18" charset="-78"/>
            </a:endParaRPr>
          </a:p>
          <a:p>
            <a:pPr marL="0" indent="0" algn="ctr">
              <a:buNone/>
            </a:pPr>
            <a:endParaRPr lang="en-US"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8272249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1BF3-7F51-4447-AA4D-4BB42319D31F}"/>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33DCCEEA-2920-4F96-853C-D1636169B2CD}"/>
              </a:ext>
            </a:extLst>
          </p:cNvPr>
          <p:cNvSpPr>
            <a:spLocks noGrp="1"/>
          </p:cNvSpPr>
          <p:nvPr>
            <p:ph idx="1"/>
          </p:nvPr>
        </p:nvSpPr>
        <p:spPr/>
        <p:txBody>
          <a:bodyPr>
            <a:normAutofit fontScale="25000" lnSpcReduction="20000"/>
          </a:bodyPr>
          <a:lstStyle/>
          <a:p>
            <a:pPr marL="0" indent="0">
              <a:buNone/>
            </a:pPr>
            <a:r>
              <a:rPr lang="en-US" sz="8800" b="1" dirty="0"/>
              <a:t>1- Khadijah </a:t>
            </a:r>
            <a:r>
              <a:rPr lang="en-US" sz="8800" b="1" dirty="0" err="1"/>
              <a:t>bint</a:t>
            </a:r>
            <a:r>
              <a:rPr lang="en-US" sz="8800" b="1" dirty="0"/>
              <a:t> Khuwaylid </a:t>
            </a:r>
            <a:r>
              <a:rPr lang="ur-PK" sz="8800" dirty="0"/>
              <a:t>رضی اللہ عنہا</a:t>
            </a:r>
            <a:r>
              <a:rPr lang="en-US" sz="8800" dirty="0"/>
              <a:t> </a:t>
            </a:r>
            <a:endParaRPr lang="ur-PK" sz="8800" dirty="0"/>
          </a:p>
          <a:p>
            <a:r>
              <a:rPr lang="en-US" sz="8800" dirty="0"/>
              <a:t>first wives. </a:t>
            </a:r>
            <a:endParaRPr lang="ur-PK" sz="8800" dirty="0"/>
          </a:p>
          <a:p>
            <a:r>
              <a:rPr lang="en-US" sz="8800" dirty="0"/>
              <a:t>married her when he was twenty-five years old, and she was 40 years old. </a:t>
            </a:r>
          </a:p>
          <a:p>
            <a:r>
              <a:rPr lang="en-US" sz="8800" dirty="0"/>
              <a:t>did not take another wife until she died. </a:t>
            </a:r>
          </a:p>
          <a:p>
            <a:r>
              <a:rPr lang="en-US" sz="8800" dirty="0"/>
              <a:t>All his children were born to her, except Ibrahim.</a:t>
            </a:r>
          </a:p>
          <a:p>
            <a:r>
              <a:rPr lang="en-US" sz="8800" dirty="0"/>
              <a:t>She passed away three years before hijra in year of grief (</a:t>
            </a:r>
            <a:r>
              <a:rPr lang="ur-PK" sz="8800" dirty="0"/>
              <a:t>عام الحزن</a:t>
            </a:r>
            <a:r>
              <a:rPr lang="en-US" sz="8800" dirty="0"/>
              <a:t>)</a:t>
            </a:r>
          </a:p>
          <a:p>
            <a:r>
              <a:rPr lang="en-US" sz="8800" dirty="0"/>
              <a:t>Aishah </a:t>
            </a:r>
            <a:r>
              <a:rPr lang="ur-PK" sz="8800" dirty="0"/>
              <a:t>رضی اللہ عنہا</a:t>
            </a:r>
            <a:r>
              <a:rPr lang="en-US" sz="8800" dirty="0"/>
              <a:t> who said: “</a:t>
            </a:r>
            <a:r>
              <a:rPr lang="en-US" sz="8800" dirty="0">
                <a:hlinkClick r:id="rId2"/>
              </a:rPr>
              <a:t>I never felt jealous of any of the wives of the Prophet</a:t>
            </a:r>
            <a:r>
              <a:rPr lang="en-US" sz="8800" dirty="0"/>
              <a:t> </a:t>
            </a:r>
            <a:r>
              <a:rPr lang="ur-PK" sz="8800" dirty="0"/>
              <a:t>ﷺ</a:t>
            </a:r>
            <a:r>
              <a:rPr lang="en-US" sz="8800" dirty="0"/>
              <a:t> as I did of Khadijah, although she died before he married me, because of what I heard him say about her</a:t>
            </a:r>
          </a:p>
          <a:p>
            <a:endParaRPr lang="en-US" dirty="0"/>
          </a:p>
        </p:txBody>
      </p:sp>
    </p:spTree>
    <p:extLst>
      <p:ext uri="{BB962C8B-B14F-4D97-AF65-F5344CB8AC3E}">
        <p14:creationId xmlns:p14="http://schemas.microsoft.com/office/powerpoint/2010/main" val="1116463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506E0-8641-422E-A600-66B76A1A6620}"/>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2B9DE18F-0626-4352-8972-957F7058A39D}"/>
              </a:ext>
            </a:extLst>
          </p:cNvPr>
          <p:cNvSpPr>
            <a:spLocks noGrp="1"/>
          </p:cNvSpPr>
          <p:nvPr>
            <p:ph idx="1"/>
          </p:nvPr>
        </p:nvSpPr>
        <p:spPr/>
        <p:txBody>
          <a:bodyPr>
            <a:noAutofit/>
          </a:bodyPr>
          <a:lstStyle/>
          <a:p>
            <a:pPr marL="0" indent="0">
              <a:buNone/>
            </a:pPr>
            <a:r>
              <a:rPr lang="en-US" sz="2200" b="1" dirty="0"/>
              <a:t>2-Sawdah </a:t>
            </a:r>
            <a:r>
              <a:rPr lang="en-US" sz="2200" b="1" dirty="0" err="1"/>
              <a:t>bint</a:t>
            </a:r>
            <a:r>
              <a:rPr lang="en-US" sz="2200" b="1" dirty="0"/>
              <a:t> </a:t>
            </a:r>
            <a:r>
              <a:rPr lang="en-US" sz="2200" b="1" dirty="0" err="1"/>
              <a:t>Zam’a</a:t>
            </a:r>
            <a:r>
              <a:rPr lang="en-US" sz="2200" b="1" dirty="0"/>
              <a:t> (</a:t>
            </a:r>
            <a:r>
              <a:rPr lang="en-US" sz="2200" b="1" dirty="0" err="1"/>
              <a:t>b.unknown</a:t>
            </a:r>
            <a:r>
              <a:rPr lang="en-US" sz="2200" b="1" dirty="0"/>
              <a:t> – d.674 CE)</a:t>
            </a:r>
          </a:p>
          <a:p>
            <a:r>
              <a:rPr lang="en-US" sz="2200" dirty="0" err="1"/>
              <a:t>Sawdah</a:t>
            </a:r>
            <a:r>
              <a:rPr lang="en-US" sz="2200" dirty="0"/>
              <a:t> and her first husband early converted to Islam who immigrated to Abyssinia.  Her husband passed away in exile and she was left a poor widow with small children.</a:t>
            </a:r>
          </a:p>
          <a:p>
            <a:r>
              <a:rPr lang="en-US" sz="2200" dirty="0" err="1"/>
              <a:t>Sawdah</a:t>
            </a:r>
            <a:r>
              <a:rPr lang="en-US" sz="2200" dirty="0"/>
              <a:t> had the great honor of being an immigrant for the sake of Islam on two occasions, to Abyssinia and then to Medina. </a:t>
            </a:r>
          </a:p>
          <a:p>
            <a:r>
              <a:rPr lang="en-US" sz="2200" dirty="0"/>
              <a:t> She was the first of a number of widows the Prophet married. </a:t>
            </a:r>
          </a:p>
          <a:p>
            <a:r>
              <a:rPr lang="en-US" sz="2200" dirty="0"/>
              <a:t> </a:t>
            </a:r>
            <a:r>
              <a:rPr lang="en-US" sz="2200" dirty="0" err="1"/>
              <a:t>Sawdah</a:t>
            </a:r>
            <a:r>
              <a:rPr lang="en-US" sz="2200" dirty="0"/>
              <a:t> had a reputation for being a kind, charitable and jovial woman.</a:t>
            </a:r>
          </a:p>
        </p:txBody>
      </p:sp>
    </p:spTree>
    <p:extLst>
      <p:ext uri="{BB962C8B-B14F-4D97-AF65-F5344CB8AC3E}">
        <p14:creationId xmlns:p14="http://schemas.microsoft.com/office/powerpoint/2010/main" val="2599116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65550-3189-4CE4-AA76-85ADEF74DBD5}"/>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392970C5-7145-4B4C-BA4E-23FC7641CBB3}"/>
              </a:ext>
            </a:extLst>
          </p:cNvPr>
          <p:cNvSpPr>
            <a:spLocks noGrp="1"/>
          </p:cNvSpPr>
          <p:nvPr>
            <p:ph idx="1"/>
          </p:nvPr>
        </p:nvSpPr>
        <p:spPr/>
        <p:txBody>
          <a:bodyPr>
            <a:noAutofit/>
          </a:bodyPr>
          <a:lstStyle/>
          <a:p>
            <a:pPr marL="0" indent="0" algn="justLow">
              <a:buNone/>
            </a:pPr>
            <a:r>
              <a:rPr lang="en-US" sz="1900" b="1" dirty="0"/>
              <a:t>3 – </a:t>
            </a:r>
            <a:r>
              <a:rPr lang="en-US" sz="1900" b="1" dirty="0" err="1"/>
              <a:t>Hazrat</a:t>
            </a:r>
            <a:r>
              <a:rPr lang="en-US" sz="1900" b="1" dirty="0"/>
              <a:t> Aisha </a:t>
            </a:r>
            <a:r>
              <a:rPr lang="en-US" sz="1900" b="1" dirty="0" err="1"/>
              <a:t>Bint</a:t>
            </a:r>
            <a:r>
              <a:rPr lang="en-US" sz="1900" b="1" dirty="0"/>
              <a:t> Abu Bakr RA</a:t>
            </a:r>
          </a:p>
          <a:p>
            <a:pPr algn="justLow"/>
            <a:r>
              <a:rPr lang="en-US" sz="1900" dirty="0"/>
              <a:t>The nearest and dearest to the Messenger of Allah. She was married, but since she was very young.</a:t>
            </a:r>
          </a:p>
          <a:p>
            <a:pPr algn="justLow"/>
            <a:r>
              <a:rPr lang="en-US" sz="1900" dirty="0"/>
              <a:t>Very INTELLIGENT. The Messenger of Allah was often heard laughing in surprise at her quick wit. </a:t>
            </a:r>
          </a:p>
          <a:p>
            <a:pPr algn="justLow"/>
            <a:r>
              <a:rPr lang="en-US" sz="1900" dirty="0"/>
              <a:t>AMAZING MEMORY. She was an expert in the interpretation of the Quran, hadith, and law.</a:t>
            </a:r>
          </a:p>
          <a:p>
            <a:pPr algn="justLow"/>
            <a:r>
              <a:rPr lang="en-US" sz="1900" dirty="0"/>
              <a:t>HAFIZA and MUHADDITHA. She have narrated 2210 </a:t>
            </a:r>
            <a:r>
              <a:rPr lang="en-US" sz="1900" dirty="0" err="1"/>
              <a:t>ahadith</a:t>
            </a:r>
            <a:r>
              <a:rPr lang="en-US" sz="1900" dirty="0"/>
              <a:t> in her lifetime. </a:t>
            </a:r>
          </a:p>
          <a:p>
            <a:pPr algn="justLow"/>
            <a:r>
              <a:rPr lang="en-US" sz="1900" dirty="0"/>
              <a:t>VERY GENEROUS</a:t>
            </a:r>
          </a:p>
          <a:p>
            <a:pPr algn="justLow"/>
            <a:r>
              <a:rPr lang="en-US" sz="1900" dirty="0"/>
              <a:t>HONEST. She was nicknamed As-</a:t>
            </a:r>
            <a:r>
              <a:rPr lang="en-US" sz="1900" dirty="0" err="1"/>
              <a:t>Siddiqa</a:t>
            </a:r>
            <a:r>
              <a:rPr lang="en-US" sz="1900" dirty="0"/>
              <a:t> (The Truthful Woman).</a:t>
            </a:r>
          </a:p>
        </p:txBody>
      </p:sp>
    </p:spTree>
    <p:extLst>
      <p:ext uri="{BB962C8B-B14F-4D97-AF65-F5344CB8AC3E}">
        <p14:creationId xmlns:p14="http://schemas.microsoft.com/office/powerpoint/2010/main" val="36608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5BC93-C80A-40C1-9471-7C232E109D36}"/>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3E19FE09-5DA9-4D0D-96B1-4947172EA5F5}"/>
              </a:ext>
            </a:extLst>
          </p:cNvPr>
          <p:cNvSpPr>
            <a:spLocks noGrp="1"/>
          </p:cNvSpPr>
          <p:nvPr>
            <p:ph idx="1"/>
          </p:nvPr>
        </p:nvSpPr>
        <p:spPr/>
        <p:txBody>
          <a:bodyPr>
            <a:normAutofit/>
          </a:bodyPr>
          <a:lstStyle/>
          <a:p>
            <a:pPr marL="0" indent="0">
              <a:buNone/>
            </a:pPr>
            <a:r>
              <a:rPr lang="en-US" b="1" dirty="0"/>
              <a:t>4 – </a:t>
            </a:r>
            <a:r>
              <a:rPr lang="en-US" b="1" dirty="0" err="1"/>
              <a:t>Hazrat</a:t>
            </a:r>
            <a:r>
              <a:rPr lang="en-US" b="1" dirty="0"/>
              <a:t> Hafsah </a:t>
            </a:r>
            <a:r>
              <a:rPr lang="en-US" b="1" dirty="0" err="1"/>
              <a:t>bint</a:t>
            </a:r>
            <a:r>
              <a:rPr lang="en-US" b="1" dirty="0"/>
              <a:t> Umar ibn Al-Khattab </a:t>
            </a:r>
            <a:r>
              <a:rPr lang="ur-PK" b="1" dirty="0"/>
              <a:t>رضی اللہ عنہما</a:t>
            </a:r>
            <a:endParaRPr lang="en-US" b="1" dirty="0"/>
          </a:p>
          <a:p>
            <a:r>
              <a:rPr lang="en-US" dirty="0"/>
              <a:t>She was twenty when she joined the rank of the wives of the Prophet of Allah.</a:t>
            </a:r>
          </a:p>
          <a:p>
            <a:r>
              <a:rPr lang="en-US" b="1" dirty="0"/>
              <a:t>THIRSTY FOR KNOWLEDGE </a:t>
            </a:r>
            <a:r>
              <a:rPr lang="en-US" dirty="0"/>
              <a:t>HAFIDHA and was able to write and read the Holy Quran</a:t>
            </a:r>
            <a:endParaRPr lang="ur-PK" dirty="0"/>
          </a:p>
          <a:p>
            <a:r>
              <a:rPr lang="en-US" dirty="0"/>
              <a:t>Custodian of the first </a:t>
            </a:r>
            <a:r>
              <a:rPr lang="en-US" dirty="0" err="1"/>
              <a:t>Mushaf</a:t>
            </a:r>
            <a:endParaRPr lang="en-US" dirty="0"/>
          </a:p>
          <a:p>
            <a:r>
              <a:rPr lang="en-US" dirty="0"/>
              <a:t>She was extremely PIOUS and spent her days fasting and nights in prayer.</a:t>
            </a:r>
          </a:p>
        </p:txBody>
      </p:sp>
    </p:spTree>
    <p:extLst>
      <p:ext uri="{BB962C8B-B14F-4D97-AF65-F5344CB8AC3E}">
        <p14:creationId xmlns:p14="http://schemas.microsoft.com/office/powerpoint/2010/main" val="2051391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E9258-E712-4C34-A937-4EC0CA49E5CA}"/>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25DBC5AF-A391-4ABA-984D-2E73D0421F4F}"/>
              </a:ext>
            </a:extLst>
          </p:cNvPr>
          <p:cNvSpPr>
            <a:spLocks noGrp="1"/>
          </p:cNvSpPr>
          <p:nvPr>
            <p:ph idx="1"/>
          </p:nvPr>
        </p:nvSpPr>
        <p:spPr/>
        <p:txBody>
          <a:bodyPr>
            <a:normAutofit fontScale="92500" lnSpcReduction="10000"/>
          </a:bodyPr>
          <a:lstStyle/>
          <a:p>
            <a:pPr marL="0" indent="0">
              <a:buNone/>
            </a:pPr>
            <a:r>
              <a:rPr lang="en-US" b="1" dirty="0"/>
              <a:t>5- Zaynab </a:t>
            </a:r>
            <a:r>
              <a:rPr lang="en-US" b="1" dirty="0" err="1"/>
              <a:t>bint</a:t>
            </a:r>
            <a:r>
              <a:rPr lang="en-US" b="1" dirty="0"/>
              <a:t> </a:t>
            </a:r>
            <a:r>
              <a:rPr lang="en-US" b="1" dirty="0" err="1"/>
              <a:t>Khuzaymah</a:t>
            </a:r>
            <a:r>
              <a:rPr lang="en-US" b="1" dirty="0"/>
              <a:t> (b.595 – d.624)</a:t>
            </a:r>
          </a:p>
          <a:p>
            <a:r>
              <a:rPr lang="en-US" dirty="0"/>
              <a:t>Zaynab was the first of Prophet Muhammad’s wives that did not come from the tribe of </a:t>
            </a:r>
            <a:r>
              <a:rPr lang="en-US" i="1" dirty="0"/>
              <a:t>Quraish</a:t>
            </a:r>
            <a:r>
              <a:rPr lang="en-US" dirty="0"/>
              <a:t>.  She died less than one year after her. Before this marriage she had earned the title of Mother of the Poor due to her work with the poor and her generosity to them.</a:t>
            </a:r>
          </a:p>
          <a:p>
            <a:r>
              <a:rPr lang="en-US" dirty="0"/>
              <a:t>However her last husband died in battle and her marriage to Prophet Muhammad set a precedent for others to follow.  Muslim men no longer feared that their deaths in battle would mean starvation and neglect for their families.  It became honorable to marry the widows of the deceased.</a:t>
            </a:r>
          </a:p>
          <a:p>
            <a:endParaRPr lang="en-US" dirty="0"/>
          </a:p>
        </p:txBody>
      </p:sp>
    </p:spTree>
    <p:extLst>
      <p:ext uri="{BB962C8B-B14F-4D97-AF65-F5344CB8AC3E}">
        <p14:creationId xmlns:p14="http://schemas.microsoft.com/office/powerpoint/2010/main" val="1014632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22FB3-2852-4901-A017-93D076AC72AA}"/>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75C9C93E-AF6A-42B6-904A-8BFB07E24449}"/>
              </a:ext>
            </a:extLst>
          </p:cNvPr>
          <p:cNvSpPr>
            <a:spLocks noGrp="1"/>
          </p:cNvSpPr>
          <p:nvPr>
            <p:ph idx="1"/>
          </p:nvPr>
        </p:nvSpPr>
        <p:spPr>
          <a:xfrm>
            <a:off x="1295402" y="2556932"/>
            <a:ext cx="9601196" cy="3318936"/>
          </a:xfrm>
        </p:spPr>
        <p:txBody>
          <a:bodyPr>
            <a:noAutofit/>
          </a:bodyPr>
          <a:lstStyle/>
          <a:p>
            <a:pPr marL="0" indent="0">
              <a:buNone/>
            </a:pPr>
            <a:r>
              <a:rPr lang="en-US" sz="2000" b="1" dirty="0"/>
              <a:t>6- Umm </a:t>
            </a:r>
            <a:r>
              <a:rPr lang="en-US" sz="2000" b="1" dirty="0" err="1"/>
              <a:t>Salamah</a:t>
            </a:r>
            <a:r>
              <a:rPr lang="en-US" sz="2000" b="1" dirty="0"/>
              <a:t> Hind </a:t>
            </a:r>
            <a:r>
              <a:rPr lang="en-US" sz="2000" b="1" dirty="0" err="1"/>
              <a:t>bint</a:t>
            </a:r>
            <a:r>
              <a:rPr lang="en-US" sz="2000" b="1" dirty="0"/>
              <a:t> Abu </a:t>
            </a:r>
            <a:r>
              <a:rPr lang="en-US" sz="2000" b="1" dirty="0" err="1"/>
              <a:t>Umayyah</a:t>
            </a:r>
            <a:r>
              <a:rPr lang="en-US" sz="2000" b="1" dirty="0"/>
              <a:t> (b.596 – d.680 CE)</a:t>
            </a:r>
          </a:p>
          <a:p>
            <a:r>
              <a:rPr lang="en-US" sz="2000" dirty="0"/>
              <a:t>Married at the age of twenty nine, former husband died in the battle of Uhud.</a:t>
            </a:r>
          </a:p>
          <a:p>
            <a:r>
              <a:rPr lang="en-US" sz="2000" dirty="0"/>
              <a:t>Her life was filled with examples of patience in the face of trials and tribulations.</a:t>
            </a:r>
          </a:p>
          <a:p>
            <a:r>
              <a:rPr lang="en-US" sz="2000" dirty="0"/>
              <a:t>Marriage to the Prophet of Allah answered that </a:t>
            </a:r>
            <a:r>
              <a:rPr lang="en-US" sz="2000" dirty="0" err="1"/>
              <a:t>du’a</a:t>
            </a:r>
            <a:r>
              <a:rPr lang="en-US" sz="2000" dirty="0"/>
              <a:t>. Umm </a:t>
            </a:r>
            <a:r>
              <a:rPr lang="en-US" sz="2000" dirty="0" err="1"/>
              <a:t>Salamah</a:t>
            </a:r>
            <a:r>
              <a:rPr lang="en-US" sz="2000" dirty="0"/>
              <a:t> narrated more than 300 hadiths, many of them concerning women.  She accompanied the Prophet on many of his expeditions and was married to him for seven years until his death. Umm </a:t>
            </a:r>
            <a:r>
              <a:rPr lang="en-US" sz="2000" dirty="0" err="1"/>
              <a:t>Salamah</a:t>
            </a:r>
            <a:r>
              <a:rPr lang="en-US" sz="2000" dirty="0"/>
              <a:t> outlived all the other wives and died at the age of eighty four.</a:t>
            </a:r>
          </a:p>
        </p:txBody>
      </p:sp>
    </p:spTree>
    <p:extLst>
      <p:ext uri="{BB962C8B-B14F-4D97-AF65-F5344CB8AC3E}">
        <p14:creationId xmlns:p14="http://schemas.microsoft.com/office/powerpoint/2010/main" val="2966261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27C75-A5A6-47B2-A7CA-4628B48124EB}"/>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B5ECD245-38CF-44BF-9D87-3A411A907941}"/>
              </a:ext>
            </a:extLst>
          </p:cNvPr>
          <p:cNvSpPr>
            <a:spLocks noGrp="1"/>
          </p:cNvSpPr>
          <p:nvPr>
            <p:ph idx="1"/>
          </p:nvPr>
        </p:nvSpPr>
        <p:spPr/>
        <p:txBody>
          <a:bodyPr>
            <a:normAutofit fontScale="85000" lnSpcReduction="20000"/>
          </a:bodyPr>
          <a:lstStyle/>
          <a:p>
            <a:pPr marL="0" indent="0">
              <a:buNone/>
            </a:pPr>
            <a:r>
              <a:rPr lang="en-US" b="1" dirty="0"/>
              <a:t>7- </a:t>
            </a:r>
            <a:r>
              <a:rPr lang="en-US" b="1" dirty="0" err="1"/>
              <a:t>Juwayriyah</a:t>
            </a:r>
            <a:r>
              <a:rPr lang="en-US" b="1" dirty="0"/>
              <a:t> </a:t>
            </a:r>
            <a:r>
              <a:rPr lang="en-US" b="1" dirty="0" err="1"/>
              <a:t>bint</a:t>
            </a:r>
            <a:r>
              <a:rPr lang="en-US" b="1" dirty="0"/>
              <a:t> al-</a:t>
            </a:r>
            <a:r>
              <a:rPr lang="en-US" b="1" dirty="0" err="1"/>
              <a:t>Haarith</a:t>
            </a:r>
            <a:r>
              <a:rPr lang="en-US" b="1" dirty="0"/>
              <a:t> (b.608 – d.673 CE)</a:t>
            </a:r>
          </a:p>
          <a:p>
            <a:r>
              <a:rPr lang="en-US" dirty="0"/>
              <a:t>captured in the battle against the tribe Banu </a:t>
            </a:r>
            <a:r>
              <a:rPr lang="en-US" dirty="0" err="1"/>
              <a:t>Mustaliq</a:t>
            </a:r>
            <a:r>
              <a:rPr lang="en-US" dirty="0"/>
              <a:t>. 20 years old daughter of the chief of Banu </a:t>
            </a:r>
            <a:r>
              <a:rPr lang="en-US" dirty="0" err="1"/>
              <a:t>Mustaliq</a:t>
            </a:r>
            <a:endParaRPr lang="en-US" dirty="0"/>
          </a:p>
          <a:p>
            <a:r>
              <a:rPr lang="en-US" dirty="0"/>
              <a:t>Her marriage brought an alignment between her tribe and the Muslims</a:t>
            </a:r>
          </a:p>
          <a:p>
            <a:r>
              <a:rPr lang="en-US" dirty="0"/>
              <a:t>When Prophet Muhammad married </a:t>
            </a:r>
            <a:r>
              <a:rPr lang="en-US" dirty="0" err="1"/>
              <a:t>Juwayriyah</a:t>
            </a:r>
            <a:r>
              <a:rPr lang="en-US" dirty="0"/>
              <a:t> it allowed the tribe to enter Islam with honor by removing the humiliation of their defeat. As soon as the marriage was announced, all the war booty that had been taken from Banu </a:t>
            </a:r>
            <a:r>
              <a:rPr lang="en-US" dirty="0" err="1"/>
              <a:t>Mustaliq</a:t>
            </a:r>
            <a:r>
              <a:rPr lang="en-US" dirty="0"/>
              <a:t> was returned, and all the captives were set free.</a:t>
            </a:r>
          </a:p>
          <a:p>
            <a:r>
              <a:rPr lang="en-US" dirty="0" err="1"/>
              <a:t>Juwayriyah</a:t>
            </a:r>
            <a:r>
              <a:rPr lang="en-US" dirty="0"/>
              <a:t> was married to the Prophet for six years, and lived for another thirty-nine years after his death. She died at the age of sixty-five.</a:t>
            </a:r>
          </a:p>
        </p:txBody>
      </p:sp>
    </p:spTree>
    <p:extLst>
      <p:ext uri="{BB962C8B-B14F-4D97-AF65-F5344CB8AC3E}">
        <p14:creationId xmlns:p14="http://schemas.microsoft.com/office/powerpoint/2010/main" val="16736689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1E13B-32F4-43A1-AE1C-9FBFBE056978}"/>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7D187BAC-C11C-4FC0-814D-D2221FB85DE4}"/>
              </a:ext>
            </a:extLst>
          </p:cNvPr>
          <p:cNvSpPr>
            <a:spLocks noGrp="1"/>
          </p:cNvSpPr>
          <p:nvPr>
            <p:ph idx="1"/>
          </p:nvPr>
        </p:nvSpPr>
        <p:spPr/>
        <p:txBody>
          <a:bodyPr>
            <a:normAutofit fontScale="92500" lnSpcReduction="20000"/>
          </a:bodyPr>
          <a:lstStyle/>
          <a:p>
            <a:pPr marL="0" indent="0">
              <a:buNone/>
            </a:pPr>
            <a:r>
              <a:rPr lang="en-US" b="1" dirty="0"/>
              <a:t>8. </a:t>
            </a:r>
            <a:r>
              <a:rPr lang="en-US" b="1" dirty="0" err="1"/>
              <a:t>Ramla</a:t>
            </a:r>
            <a:r>
              <a:rPr lang="en-US" b="1" dirty="0"/>
              <a:t> </a:t>
            </a:r>
            <a:r>
              <a:rPr lang="en-US" b="1" dirty="0" err="1"/>
              <a:t>bint</a:t>
            </a:r>
            <a:r>
              <a:rPr lang="en-US" b="1" dirty="0"/>
              <a:t> Abu Sufyan (Um </a:t>
            </a:r>
            <a:r>
              <a:rPr lang="en-US" b="1" dirty="0" err="1"/>
              <a:t>Habeebah</a:t>
            </a:r>
            <a:r>
              <a:rPr lang="en-US" b="1" dirty="0"/>
              <a:t>)</a:t>
            </a:r>
          </a:p>
          <a:p>
            <a:r>
              <a:rPr lang="en-US" dirty="0" err="1"/>
              <a:t>Ramla</a:t>
            </a:r>
            <a:r>
              <a:rPr lang="en-US" dirty="0"/>
              <a:t> </a:t>
            </a:r>
            <a:r>
              <a:rPr lang="en-US" dirty="0" err="1"/>
              <a:t>bint</a:t>
            </a:r>
            <a:r>
              <a:rPr lang="en-US" dirty="0"/>
              <a:t> Abu Sufyan had travelled with her husband to Abyssinia, but he became a Christian there or died.</a:t>
            </a:r>
          </a:p>
          <a:p>
            <a:r>
              <a:rPr lang="en-US" dirty="0"/>
              <a:t>Consequently, </a:t>
            </a:r>
            <a:r>
              <a:rPr lang="en-US" dirty="0" err="1"/>
              <a:t>Ramla</a:t>
            </a:r>
            <a:r>
              <a:rPr lang="en-US" dirty="0"/>
              <a:t> </a:t>
            </a:r>
            <a:r>
              <a:rPr lang="en-US" dirty="0" err="1"/>
              <a:t>bint</a:t>
            </a:r>
            <a:r>
              <a:rPr lang="en-US" dirty="0"/>
              <a:t> Abu Sufyan had the choice to return to her father, who was still fighting the Messenger (peace be upon him) at that time, or experience difficulties in holding on to her religion when her husband had left Islam. As a result, the Messenger (peace be upon him) married </a:t>
            </a:r>
            <a:r>
              <a:rPr lang="en-US" dirty="0" err="1"/>
              <a:t>Ramla</a:t>
            </a:r>
            <a:r>
              <a:rPr lang="en-US" dirty="0"/>
              <a:t> </a:t>
            </a:r>
            <a:r>
              <a:rPr lang="en-US" dirty="0" err="1"/>
              <a:t>bint</a:t>
            </a:r>
            <a:r>
              <a:rPr lang="en-US" dirty="0"/>
              <a:t> Abu Sufyan in order to protect her from these difficulties and to protect her from returning to polytheism. This marriage to one from the family of Abu Sufyan also softened Abu Sufyan’s heart.</a:t>
            </a:r>
          </a:p>
          <a:p>
            <a:endParaRPr lang="en-US" dirty="0"/>
          </a:p>
        </p:txBody>
      </p:sp>
    </p:spTree>
    <p:extLst>
      <p:ext uri="{BB962C8B-B14F-4D97-AF65-F5344CB8AC3E}">
        <p14:creationId xmlns:p14="http://schemas.microsoft.com/office/powerpoint/2010/main" val="22954664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6BC4-76A2-48A1-947D-30F179EB84C7}"/>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B2BD1109-0EB7-490A-883A-0FC30597188A}"/>
              </a:ext>
            </a:extLst>
          </p:cNvPr>
          <p:cNvSpPr>
            <a:spLocks noGrp="1"/>
          </p:cNvSpPr>
          <p:nvPr>
            <p:ph idx="1"/>
          </p:nvPr>
        </p:nvSpPr>
        <p:spPr/>
        <p:txBody>
          <a:bodyPr>
            <a:normAutofit lnSpcReduction="10000"/>
          </a:bodyPr>
          <a:lstStyle/>
          <a:p>
            <a:pPr marL="0" indent="0">
              <a:buNone/>
            </a:pPr>
            <a:r>
              <a:rPr lang="en-US" b="1" dirty="0"/>
              <a:t>9- Zaynab </a:t>
            </a:r>
            <a:r>
              <a:rPr lang="en-US" b="1" dirty="0" err="1"/>
              <a:t>bint</a:t>
            </a:r>
            <a:r>
              <a:rPr lang="en-US" b="1" dirty="0"/>
              <a:t> </a:t>
            </a:r>
            <a:r>
              <a:rPr lang="en-US" b="1" dirty="0" err="1"/>
              <a:t>Jahsh</a:t>
            </a:r>
            <a:r>
              <a:rPr lang="en-US" b="1" dirty="0"/>
              <a:t> (b.590 – d.641 CE)</a:t>
            </a:r>
          </a:p>
          <a:p>
            <a:r>
              <a:rPr lang="en-US" dirty="0"/>
              <a:t>A young girl from the noble line of </a:t>
            </a:r>
            <a:r>
              <a:rPr lang="en-US" i="1" dirty="0"/>
              <a:t>Quraish</a:t>
            </a:r>
            <a:r>
              <a:rPr lang="en-US" dirty="0"/>
              <a:t> was once married to Prophet Muhammad’s freed slave and adopted son Zayd.</a:t>
            </a:r>
          </a:p>
          <a:p>
            <a:r>
              <a:rPr lang="en-US" dirty="0"/>
              <a:t>Verses in the Quran were revealed to deal with this matter and by marrying Zaynab, Prophet Muhammad demonstrated that in Islam an adopted son is not the same as a natural son.  Zaynab joined the growing family of Muhammad and was known for her generosity and charitable works.  She died at the age of fifty.</a:t>
            </a:r>
          </a:p>
          <a:p>
            <a:endParaRPr lang="en-US" dirty="0"/>
          </a:p>
        </p:txBody>
      </p:sp>
    </p:spTree>
    <p:extLst>
      <p:ext uri="{BB962C8B-B14F-4D97-AF65-F5344CB8AC3E}">
        <p14:creationId xmlns:p14="http://schemas.microsoft.com/office/powerpoint/2010/main" val="3618633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6BE82-2CD4-42B8-99BD-DEBB93120C9A}"/>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9A25C301-BA0C-4B6D-90D1-C7FD2FE5199D}"/>
              </a:ext>
            </a:extLst>
          </p:cNvPr>
          <p:cNvSpPr>
            <a:spLocks noGrp="1"/>
          </p:cNvSpPr>
          <p:nvPr>
            <p:ph idx="1"/>
          </p:nvPr>
        </p:nvSpPr>
        <p:spPr/>
        <p:txBody>
          <a:bodyPr>
            <a:normAutofit fontScale="77500" lnSpcReduction="20000"/>
          </a:bodyPr>
          <a:lstStyle/>
          <a:p>
            <a:pPr marL="0" indent="0">
              <a:buNone/>
            </a:pPr>
            <a:r>
              <a:rPr lang="en-US" sz="3100" b="1" dirty="0"/>
              <a:t>10- </a:t>
            </a:r>
            <a:r>
              <a:rPr lang="en-US" sz="3100" b="1" dirty="0" err="1"/>
              <a:t>Safiyyah</a:t>
            </a:r>
            <a:r>
              <a:rPr lang="en-US" sz="3100" b="1" dirty="0"/>
              <a:t> </a:t>
            </a:r>
            <a:r>
              <a:rPr lang="en-US" sz="3100" b="1" dirty="0" err="1"/>
              <a:t>bint</a:t>
            </a:r>
            <a:r>
              <a:rPr lang="en-US" sz="3100" b="1" dirty="0"/>
              <a:t> </a:t>
            </a:r>
            <a:r>
              <a:rPr lang="en-US" sz="3100" b="1" dirty="0" err="1"/>
              <a:t>Huyayy</a:t>
            </a:r>
            <a:r>
              <a:rPr lang="en-US" sz="3100" b="1" dirty="0"/>
              <a:t> ibn </a:t>
            </a:r>
            <a:r>
              <a:rPr lang="en-US" sz="3100" b="1" dirty="0" err="1"/>
              <a:t>Akhtab</a:t>
            </a:r>
            <a:r>
              <a:rPr lang="en-US" sz="3100" b="1" dirty="0"/>
              <a:t> (b.610 – d.670 CE)</a:t>
            </a:r>
          </a:p>
          <a:p>
            <a:r>
              <a:rPr lang="en-US" dirty="0" err="1"/>
              <a:t>Safiyyah</a:t>
            </a:r>
            <a:r>
              <a:rPr lang="en-US" dirty="0"/>
              <a:t> was born in Madinah to </a:t>
            </a:r>
            <a:r>
              <a:rPr lang="en-US" dirty="0" err="1"/>
              <a:t>Huyayy</a:t>
            </a:r>
            <a:r>
              <a:rPr lang="en-US" dirty="0"/>
              <a:t> ibn </a:t>
            </a:r>
            <a:r>
              <a:rPr lang="en-US" dirty="0" err="1"/>
              <a:t>Akhtab</a:t>
            </a:r>
            <a:r>
              <a:rPr lang="en-US" dirty="0"/>
              <a:t>, the chief of the Jewish tribe Banu Nadir. Banu Nadir had been expelled from Madinah and settled at </a:t>
            </a:r>
            <a:r>
              <a:rPr lang="en-US" dirty="0" err="1"/>
              <a:t>Khaybar</a:t>
            </a:r>
            <a:r>
              <a:rPr lang="en-US" dirty="0"/>
              <a:t>. In 629 CE, the Muslims were victorious at the Battle of </a:t>
            </a:r>
            <a:r>
              <a:rPr lang="en-US" dirty="0" err="1"/>
              <a:t>Khaybar</a:t>
            </a:r>
            <a:r>
              <a:rPr lang="en-US" dirty="0"/>
              <a:t> and </a:t>
            </a:r>
            <a:r>
              <a:rPr lang="en-US" dirty="0" err="1"/>
              <a:t>Safiyyah</a:t>
            </a:r>
            <a:r>
              <a:rPr lang="en-US" dirty="0"/>
              <a:t> was taken captive. Muhammad suggested that </a:t>
            </a:r>
            <a:r>
              <a:rPr lang="en-US" dirty="0" err="1"/>
              <a:t>Safiyyah</a:t>
            </a:r>
            <a:r>
              <a:rPr lang="en-US" dirty="0"/>
              <a:t> convert to Islam, she agreed, and become Muhammad’s wife.</a:t>
            </a:r>
          </a:p>
          <a:p>
            <a:r>
              <a:rPr lang="en-US" dirty="0"/>
              <a:t>Despite her conversion, Muhammad’s other wives teased </a:t>
            </a:r>
            <a:r>
              <a:rPr lang="en-US" dirty="0" err="1"/>
              <a:t>Safiyyah</a:t>
            </a:r>
            <a:r>
              <a:rPr lang="en-US" dirty="0"/>
              <a:t> about her Jewish origin.  Prophet Muhammad once said to his wife:</a:t>
            </a:r>
          </a:p>
          <a:p>
            <a:r>
              <a:rPr lang="en-US" dirty="0"/>
              <a:t>    “If they discriminate you again, tell them that your husband is Muhammad, your father was Prophet Aaron and your uncle was Prophet Musa.  So what is there in that to be scornful about?”</a:t>
            </a:r>
          </a:p>
          <a:p>
            <a:r>
              <a:rPr lang="en-US" dirty="0" err="1"/>
              <a:t>Safiyyah</a:t>
            </a:r>
            <a:r>
              <a:rPr lang="en-US" dirty="0"/>
              <a:t> was twenty-one years old when the Prophet died.  She lived for another 39 years, passing away in Medina at the age of 60.</a:t>
            </a:r>
          </a:p>
        </p:txBody>
      </p:sp>
    </p:spTree>
    <p:extLst>
      <p:ext uri="{BB962C8B-B14F-4D97-AF65-F5344CB8AC3E}">
        <p14:creationId xmlns:p14="http://schemas.microsoft.com/office/powerpoint/2010/main" val="2266984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FD715-E981-4F15-83A7-AFB471904AF0}"/>
              </a:ext>
            </a:extLst>
          </p:cNvPr>
          <p:cNvSpPr>
            <a:spLocks noGrp="1"/>
          </p:cNvSpPr>
          <p:nvPr>
            <p:ph type="title"/>
          </p:nvPr>
        </p:nvSpPr>
        <p:spPr/>
        <p:txBody>
          <a:bodyPr>
            <a:normAutofit fontScale="90000"/>
          </a:bodyPr>
          <a:lstStyle/>
          <a:p>
            <a:r>
              <a:rPr lang="ur-PK" dirty="0"/>
              <a:t>ازواجِ مطہرات</a:t>
            </a:r>
            <a:br>
              <a:rPr lang="en-US" dirty="0"/>
            </a:br>
            <a:r>
              <a:rPr lang="en-US" dirty="0"/>
              <a:t>Wives of Holy Prophet </a:t>
            </a:r>
            <a:r>
              <a:rPr lang="ur-PK" dirty="0"/>
              <a:t>ﷺ</a:t>
            </a:r>
            <a:endParaRPr lang="en-US" dirty="0"/>
          </a:p>
        </p:txBody>
      </p:sp>
      <p:sp>
        <p:nvSpPr>
          <p:cNvPr id="3" name="Content Placeholder 2">
            <a:extLst>
              <a:ext uri="{FF2B5EF4-FFF2-40B4-BE49-F238E27FC236}">
                <a16:creationId xmlns:a16="http://schemas.microsoft.com/office/drawing/2014/main" id="{F7168CAA-D048-410C-8E32-FA92C33ECD7D}"/>
              </a:ext>
            </a:extLst>
          </p:cNvPr>
          <p:cNvSpPr>
            <a:spLocks noGrp="1"/>
          </p:cNvSpPr>
          <p:nvPr>
            <p:ph idx="1"/>
          </p:nvPr>
        </p:nvSpPr>
        <p:spPr/>
        <p:txBody>
          <a:bodyPr/>
          <a:lstStyle/>
          <a:p>
            <a:r>
              <a:rPr lang="en-US" b="1" dirty="0"/>
              <a:t>11- Maymunah </a:t>
            </a:r>
            <a:r>
              <a:rPr lang="en-US" b="1" dirty="0" err="1"/>
              <a:t>bint</a:t>
            </a:r>
            <a:r>
              <a:rPr lang="en-US" b="1" dirty="0"/>
              <a:t> al-</a:t>
            </a:r>
            <a:r>
              <a:rPr lang="en-US" b="1" dirty="0" err="1"/>
              <a:t>Haarith</a:t>
            </a:r>
            <a:r>
              <a:rPr lang="en-US" b="1" dirty="0"/>
              <a:t> (b.594 – d.674 CE)</a:t>
            </a:r>
          </a:p>
          <a:p>
            <a:r>
              <a:rPr lang="en-US" dirty="0">
                <a:solidFill>
                  <a:schemeClr val="tx1"/>
                </a:solidFill>
              </a:rPr>
              <a:t>Maymunah,</a:t>
            </a:r>
            <a:r>
              <a:rPr lang="en-US" dirty="0"/>
              <a:t> or Barra as she was then called, yearned to marry the Prophet and offered herself to him in marriage.  He accepted.  Maymunah lived with the Prophet for just over three years, until his death.  She was very good natured and her nephew, Ibn Abbas, who later became the greatest scholar of the Quran, learned much from her knowledge.</a:t>
            </a:r>
          </a:p>
        </p:txBody>
      </p:sp>
    </p:spTree>
    <p:extLst>
      <p:ext uri="{BB962C8B-B14F-4D97-AF65-F5344CB8AC3E}">
        <p14:creationId xmlns:p14="http://schemas.microsoft.com/office/powerpoint/2010/main" val="326836418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1758</TotalTime>
  <Words>3199</Words>
  <Application>Microsoft Office PowerPoint</Application>
  <PresentationFormat>Widescreen</PresentationFormat>
  <Paragraphs>254</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Garamond</vt:lpstr>
      <vt:lpstr>Jameel Noori Nastaleeq</vt:lpstr>
      <vt:lpstr>Times New Roman</vt:lpstr>
      <vt:lpstr>Traditional Arabic</vt:lpstr>
      <vt:lpstr>Wingdings</vt:lpstr>
      <vt:lpstr>Organic</vt:lpstr>
      <vt:lpstr>LIFE OF HOLY PROPHET ﷺ</vt:lpstr>
      <vt:lpstr>LIFE OF HOLY PROPHET MUHAMMAD ﷺ</vt:lpstr>
      <vt:lpstr>LIFE OF HOLY PROPHET MUHAMMAD ﷺ</vt:lpstr>
      <vt:lpstr>LIFE OF HOLY PROPHET MUHAMMAD ﷺ</vt:lpstr>
      <vt:lpstr>LIFE OF HOLY PROPHET ﷺ Migration to Madina</vt:lpstr>
      <vt:lpstr>LIFE OF HOLY PROPHET ﷺ Migration to Madina</vt:lpstr>
      <vt:lpstr>PowerPoint Presentation</vt:lpstr>
      <vt:lpstr>LIFE OF HOLY PROPHET ﷺ Migration to Madina</vt:lpstr>
      <vt:lpstr>LIFE OF HOLY PROPHET ﷺ Migration to Madina</vt:lpstr>
      <vt:lpstr>PowerPoint Presentation</vt:lpstr>
      <vt:lpstr>LIFE OF HOLY PROPHET ﷺ Final Destination Of Migration</vt:lpstr>
      <vt:lpstr>LIFE OF HOLY PROPHET ﷺ Final Destination Of Migration</vt:lpstr>
      <vt:lpstr>LIFE OF HOLY PROPHET ﷺ In Madinah</vt:lpstr>
      <vt:lpstr>LIFE OF HOLY PROPHET ﷺ In Madinah</vt:lpstr>
      <vt:lpstr>PowerPoint Presentation</vt:lpstr>
      <vt:lpstr>PowerPoint Presentation</vt:lpstr>
      <vt:lpstr>PowerPoint Presentation</vt:lpstr>
      <vt:lpstr>PowerPoint Presentation</vt:lpstr>
      <vt:lpstr>PowerPoint Presentation</vt:lpstr>
      <vt:lpstr>LIFE OF HOLY PROPHET ﷺ In Madinah Sulah Hudaibya</vt:lpstr>
      <vt:lpstr>LIFE OF HOLY PROPHET ﷺ In Madinah Sulah Hudaibya</vt:lpstr>
      <vt:lpstr>LIFE OF HOLY PROPHET ﷺ In Madinah Sulah Hudaibya</vt:lpstr>
      <vt:lpstr>LIFE OF HOLY PROPHET ﷺ In Madinah Sulah Hudaibya</vt:lpstr>
      <vt:lpstr>LIFE OF HOLY PROPHET ﷺ In Madinah Hajjat ul wada</vt:lpstr>
      <vt:lpstr>LIFE OF HOLY PROPHET ﷺ In Madinah Hajjat ul wada</vt:lpstr>
      <vt:lpstr>LIFE OF HOLY PROPHET ﷺ In Madinah Hajjat ul wada</vt:lpstr>
      <vt:lpstr>LIFE OF HOLY PROPHET ﷺ In Madinah Hajjat ul wada</vt:lpstr>
      <vt:lpstr>LIFE OF HOLY PROPHET ﷺ In Madinah Hajjat ul wada</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LIFE OF HOLY PROPHET ﷺ Self Purification (تزکیہ) &amp; Character Building</vt:lpstr>
      <vt:lpstr>Asharah Mubasharah</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lpstr>ازواجِ مطہرات Wives of Holy Prophet 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OF HOLY PROPHET MUHAMMAD ﷺ</dc:title>
  <dc:creator>Muhammad Iqbal/Math</dc:creator>
  <cp:lastModifiedBy>Muhammad Iqbal/Math</cp:lastModifiedBy>
  <cp:revision>356</cp:revision>
  <dcterms:created xsi:type="dcterms:W3CDTF">2022-12-26T04:10:57Z</dcterms:created>
  <dcterms:modified xsi:type="dcterms:W3CDTF">2023-06-08T11:10:48Z</dcterms:modified>
</cp:coreProperties>
</file>